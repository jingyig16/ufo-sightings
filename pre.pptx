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3" r:id="rId2"/>
    <p:sldId id="311" r:id="rId3"/>
    <p:sldId id="320" r:id="rId4"/>
    <p:sldId id="296" r:id="rId5"/>
    <p:sldId id="305" r:id="rId6"/>
    <p:sldId id="324" r:id="rId7"/>
    <p:sldId id="321" r:id="rId8"/>
    <p:sldId id="325" r:id="rId9"/>
    <p:sldId id="314" r:id="rId10"/>
    <p:sldId id="327" r:id="rId11"/>
    <p:sldId id="328" r:id="rId12"/>
    <p:sldId id="329" r:id="rId13"/>
    <p:sldId id="326" r:id="rId14"/>
    <p:sldId id="315" r:id="rId15"/>
    <p:sldId id="317" r:id="rId16"/>
    <p:sldId id="319" r:id="rId17"/>
    <p:sldId id="261" r:id="rId18"/>
    <p:sldId id="292" r:id="rId1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3149"/>
    <a:srgbClr val="662D49"/>
    <a:srgbClr val="663749"/>
    <a:srgbClr val="6626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60" autoAdjust="0"/>
    <p:restoredTop sz="93117" autoAdjust="0"/>
  </p:normalViewPr>
  <p:slideViewPr>
    <p:cSldViewPr snapToGrid="0" snapToObjects="1">
      <p:cViewPr varScale="1">
        <p:scale>
          <a:sx n="135" d="100"/>
          <a:sy n="135" d="100"/>
        </p:scale>
        <p:origin x="1472" y="19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7800183295301"/>
          <c:y val="4.2670177509307301E-2"/>
          <c:w val="0.57948787445501004"/>
          <c:h val="0.8203003873671830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Restock Time</c:v>
                </c:pt>
              </c:strCache>
            </c:strRef>
          </c:tx>
          <c:spPr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Apples</c:v>
                </c:pt>
                <c:pt idx="1">
                  <c:v>Oranges</c:v>
                </c:pt>
                <c:pt idx="2">
                  <c:v>Bananas</c:v>
                </c:pt>
                <c:pt idx="3">
                  <c:v>Pears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8</c:v>
                </c:pt>
                <c:pt idx="2">
                  <c:v>18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21-D74C-9AAC-26AFFF1255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Shelf Life</c:v>
                </c:pt>
              </c:strCache>
            </c:strRef>
          </c:tx>
          <c:spPr>
            <a:solidFill>
              <a:schemeClr val="bg2"/>
            </a:solidFill>
            <a:ln w="25400" cap="flat" cmpd="sng" algn="ctr">
              <a:noFill/>
              <a:prstDash val="solid"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Apples</c:v>
                </c:pt>
                <c:pt idx="1">
                  <c:v>Oranges</c:v>
                </c:pt>
                <c:pt idx="2">
                  <c:v>Bananas</c:v>
                </c:pt>
                <c:pt idx="3">
                  <c:v>Pears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</c:v>
                </c:pt>
                <c:pt idx="1">
                  <c:v>15</c:v>
                </c:pt>
                <c:pt idx="2">
                  <c:v>7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921-D74C-9AAC-26AFFF1255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128992192"/>
        <c:axId val="-2128989408"/>
      </c:barChart>
      <c:catAx>
        <c:axId val="-21289921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28989408"/>
        <c:crosses val="autoZero"/>
        <c:auto val="1"/>
        <c:lblAlgn val="ctr"/>
        <c:lblOffset val="100"/>
        <c:noMultiLvlLbl val="0"/>
      </c:catAx>
      <c:valAx>
        <c:axId val="-212898940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921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064003203872501"/>
          <c:y val="0.41185824111032099"/>
          <c:w val="0.21935996796127499"/>
          <c:h val="0.17628328445597299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5E162-9D79-2943-B0A3-211BF28B7513}" type="datetimeFigureOut">
              <a:rPr lang="en-US" smtClean="0"/>
              <a:t>12/8/25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2E400-0EC4-CD46-9C72-78BD5E9427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427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CBAB52-94AF-9448-9B1C-7768B1879D49}" type="datetimeFigureOut">
              <a:rPr lang="en-US" smtClean="0"/>
              <a:t>12/8/25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447283-AD3B-EE49-8B53-C7D74121EF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351202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6000" kern="1200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4637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447283-AD3B-EE49-8B53-C7D74121EF4E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486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 userDrawn="1"/>
        </p:nvSpPr>
        <p:spPr>
          <a:xfrm>
            <a:off x="-56445" y="5"/>
            <a:ext cx="9206200" cy="515143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4" name="Picture 13" descr="2-line-whitetext-colorshield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599" y="4296762"/>
            <a:ext cx="1769927" cy="650138"/>
          </a:xfrm>
          <a:prstGeom prst="rect">
            <a:avLst/>
          </a:prstGeom>
        </p:spPr>
      </p:pic>
      <p:pic>
        <p:nvPicPr>
          <p:cNvPr id="13" name="Picture 12"/>
          <p:cNvPicPr>
            <a:picLocks/>
          </p:cNvPicPr>
          <p:nvPr userDrawn="1"/>
        </p:nvPicPr>
        <p:blipFill>
          <a:blip r:embed="rId3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51675"/>
            <a:ext cx="3080816" cy="3457724"/>
          </a:xfrm>
          <a:prstGeom prst="rect">
            <a:avLst/>
          </a:prstGeom>
        </p:spPr>
      </p:pic>
      <p:sp>
        <p:nvSpPr>
          <p:cNvPr id="25" name="Title 1"/>
          <p:cNvSpPr>
            <a:spLocks noGrp="1"/>
          </p:cNvSpPr>
          <p:nvPr userDrawn="1"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6" name="Subtitle 2"/>
          <p:cNvSpPr>
            <a:spLocks noGrp="1"/>
          </p:cNvSpPr>
          <p:nvPr userDrawn="1">
            <p:ph type="subTitle" idx="1"/>
          </p:nvPr>
        </p:nvSpPr>
        <p:spPr>
          <a:xfrm>
            <a:off x="958151" y="3255792"/>
            <a:ext cx="7397039" cy="73152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34" name="Group 33"/>
          <p:cNvGrpSpPr/>
          <p:nvPr userDrawn="1"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35" name="Rectangle 34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37" name="Rectangle 36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52348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2-line-bluetext-colorshield.png"/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57" b="-1906"/>
          <a:stretch/>
        </p:blipFill>
        <p:spPr>
          <a:xfrm>
            <a:off x="6585599" y="4296761"/>
            <a:ext cx="1769927" cy="656963"/>
          </a:xfrm>
          <a:prstGeom prst="rect">
            <a:avLst/>
          </a:prstGeom>
        </p:spPr>
      </p:pic>
      <p:pic>
        <p:nvPicPr>
          <p:cNvPr id="14" name="Picture 13" descr="upennwatermark.pdf"/>
          <p:cNvPicPr>
            <a:picLocks/>
          </p:cNvPicPr>
          <p:nvPr userDrawn="1"/>
        </p:nvPicPr>
        <p:blipFill>
          <a:blip r:embed="rId3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36510"/>
            <a:ext cx="3080816" cy="34728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8151" y="1073526"/>
            <a:ext cx="7397039" cy="1747125"/>
          </a:xfrm>
          <a:prstGeom prst="rect">
            <a:avLst/>
          </a:prstGeom>
        </p:spPr>
        <p:txBody>
          <a:bodyPr anchor="b"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8151" y="3255792"/>
            <a:ext cx="7397039" cy="658114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0" name="Group 9"/>
          <p:cNvGrpSpPr/>
          <p:nvPr userDrawn="1"/>
        </p:nvGrpSpPr>
        <p:grpSpPr>
          <a:xfrm rot="10800000">
            <a:off x="0" y="3001092"/>
            <a:ext cx="8355526" cy="57487"/>
            <a:chOff x="685800" y="1794746"/>
            <a:chExt cx="7772400" cy="179475"/>
          </a:xfrm>
        </p:grpSpPr>
        <p:sp>
          <p:nvSpPr>
            <p:cNvPr id="7" name="Rectangle 6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6" name="Rectangle 5"/>
          <p:cNvSpPr/>
          <p:nvPr userDrawn="1"/>
        </p:nvSpPr>
        <p:spPr>
          <a:xfrm>
            <a:off x="254010" y="4572000"/>
            <a:ext cx="2243667" cy="571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49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430464" y="902369"/>
            <a:ext cx="8229600" cy="369079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59591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9" y="0"/>
            <a:ext cx="9143999" cy="51435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9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"/>
          </p:nvPr>
        </p:nvSpPr>
        <p:spPr>
          <a:xfrm>
            <a:off x="430464" y="902369"/>
            <a:ext cx="8229600" cy="369079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pic>
        <p:nvPicPr>
          <p:cNvPr id="13" name="Picture 12" descr="1-line-bluetext-colorshield.png"/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699003"/>
            <a:ext cx="1809092" cy="347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321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upennwatermark.pdf"/>
          <p:cNvPicPr>
            <a:picLocks/>
          </p:cNvPicPr>
          <p:nvPr userDrawn="1"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05531"/>
            <a:ext cx="3336156" cy="374596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464" y="902369"/>
            <a:ext cx="8229600" cy="369079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2" name="Rectangle 1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54852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3"/>
          </p:nvPr>
        </p:nvSpPr>
        <p:spPr>
          <a:xfrm>
            <a:off x="4811889" y="1066670"/>
            <a:ext cx="3874912" cy="35279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669"/>
            <a:ext cx="4040188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52610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upennwatermark.pdf"/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8" y="105531"/>
            <a:ext cx="3338896" cy="3749040"/>
          </a:xfrm>
          <a:prstGeom prst="rect">
            <a:avLst/>
          </a:prstGeom>
        </p:spPr>
      </p:pic>
      <p:sp>
        <p:nvSpPr>
          <p:cNvPr id="16" name="Picture Placeholder 2"/>
          <p:cNvSpPr>
            <a:spLocks noGrp="1"/>
          </p:cNvSpPr>
          <p:nvPr>
            <p:ph type="pic" idx="13"/>
          </p:nvPr>
        </p:nvSpPr>
        <p:spPr>
          <a:xfrm>
            <a:off x="4811889" y="1066670"/>
            <a:ext cx="3874912" cy="35279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669"/>
            <a:ext cx="4040188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6939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04904"/>
            <a:ext cx="4038600" cy="348972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04902"/>
            <a:ext cx="4038600" cy="348972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3" name="Rectangle 12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23846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7992"/>
            <a:ext cx="4040188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546495"/>
            <a:ext cx="4040188" cy="30481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066669"/>
            <a:ext cx="4041775" cy="47982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546495"/>
            <a:ext cx="4041775" cy="304813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427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42182" y="1782939"/>
            <a:ext cx="2544621" cy="479822"/>
          </a:xfrm>
        </p:spPr>
        <p:txBody>
          <a:bodyPr anchor="b">
            <a:no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42182" y="2310651"/>
            <a:ext cx="2544621" cy="2282515"/>
          </a:xfrm>
        </p:spPr>
        <p:txBody>
          <a:bodyPr>
            <a:normAutofit/>
          </a:bodyPr>
          <a:lstStyle>
            <a:lvl1pPr marL="342900" marR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tabLst/>
              <a:defRPr sz="16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cxnSp>
        <p:nvCxnSpPr>
          <p:cNvPr id="23" name="Straight Connector 22"/>
          <p:cNvCxnSpPr/>
          <p:nvPr userDrawn="1"/>
        </p:nvCxnSpPr>
        <p:spPr>
          <a:xfrm>
            <a:off x="5908842" y="1099992"/>
            <a:ext cx="0" cy="3599013"/>
          </a:xfrm>
          <a:prstGeom prst="line">
            <a:avLst/>
          </a:prstGeom>
          <a:ln w="9525" cmpd="sng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5"/>
          <p:cNvSpPr>
            <a:spLocks noGrp="1"/>
          </p:cNvSpPr>
          <p:nvPr>
            <p:ph sz="quarter" idx="14"/>
          </p:nvPr>
        </p:nvSpPr>
        <p:spPr>
          <a:xfrm>
            <a:off x="310162" y="1485154"/>
            <a:ext cx="5294781" cy="323189"/>
          </a:xfrm>
        </p:spPr>
        <p:txBody>
          <a:bodyPr anchor="b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16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5"/>
          </p:nvPr>
        </p:nvSpPr>
        <p:spPr>
          <a:xfrm>
            <a:off x="310162" y="1808344"/>
            <a:ext cx="5294781" cy="32318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1400" b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6" name="Content Placeholder 5"/>
          <p:cNvSpPr>
            <a:spLocks noGrp="1"/>
          </p:cNvSpPr>
          <p:nvPr>
            <p:ph sz="quarter" idx="16"/>
          </p:nvPr>
        </p:nvSpPr>
        <p:spPr>
          <a:xfrm>
            <a:off x="310162" y="2353694"/>
            <a:ext cx="5294781" cy="323189"/>
          </a:xfrm>
        </p:spPr>
        <p:txBody>
          <a:bodyPr anchor="b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16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Content Placeholder 5"/>
          <p:cNvSpPr>
            <a:spLocks noGrp="1"/>
          </p:cNvSpPr>
          <p:nvPr>
            <p:ph sz="quarter" idx="17"/>
          </p:nvPr>
        </p:nvSpPr>
        <p:spPr>
          <a:xfrm>
            <a:off x="310162" y="2676884"/>
            <a:ext cx="5294781" cy="32318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1400" b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28" name="Content Placeholder 5"/>
          <p:cNvSpPr>
            <a:spLocks noGrp="1"/>
          </p:cNvSpPr>
          <p:nvPr>
            <p:ph sz="quarter" idx="18"/>
          </p:nvPr>
        </p:nvSpPr>
        <p:spPr>
          <a:xfrm>
            <a:off x="310162" y="3191895"/>
            <a:ext cx="5294781" cy="323189"/>
          </a:xfrm>
        </p:spPr>
        <p:txBody>
          <a:bodyPr anchor="b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16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Content Placeholder 5"/>
          <p:cNvSpPr>
            <a:spLocks noGrp="1"/>
          </p:cNvSpPr>
          <p:nvPr>
            <p:ph sz="quarter" idx="19"/>
          </p:nvPr>
        </p:nvSpPr>
        <p:spPr>
          <a:xfrm>
            <a:off x="310162" y="3515084"/>
            <a:ext cx="5294781" cy="323189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1400" b="0">
                <a:solidFill>
                  <a:schemeClr val="tx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0"/>
          </p:nvPr>
        </p:nvSpPr>
        <p:spPr>
          <a:xfrm>
            <a:off x="309033" y="965872"/>
            <a:ext cx="5295900" cy="41910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0144D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26121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4" name="Rectangle 13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1" name="Rectangle 20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9" name="Rectangle 18"/>
          <p:cNvSpPr/>
          <p:nvPr/>
        </p:nvSpPr>
        <p:spPr>
          <a:xfrm>
            <a:off x="457210" y="1110136"/>
            <a:ext cx="2198255" cy="10297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1"/>
              </a:solidFill>
              <a:latin typeface="Gill Sans"/>
              <a:cs typeface="Gill Sans"/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457209" y="1110132"/>
            <a:ext cx="2198255" cy="4750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457198" y="2210973"/>
            <a:ext cx="3035300" cy="1029799"/>
            <a:chOff x="457198" y="2913323"/>
            <a:chExt cx="3035300" cy="1373065"/>
          </a:xfrm>
        </p:grpSpPr>
        <p:sp>
          <p:nvSpPr>
            <p:cNvPr id="31" name="Rectangle 30"/>
            <p:cNvSpPr/>
            <p:nvPr/>
          </p:nvSpPr>
          <p:spPr>
            <a:xfrm>
              <a:off x="457199" y="2913323"/>
              <a:ext cx="3035299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Gill Sans"/>
                <a:cs typeface="Gill Sans"/>
              </a:endParaRPr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457198" y="2913323"/>
              <a:ext cx="3035300" cy="633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2"/>
                </a:solidFill>
              </a:endParaRPr>
            </a:p>
          </p:txBody>
        </p:sp>
      </p:grpSp>
      <p:grpSp>
        <p:nvGrpSpPr>
          <p:cNvPr id="33" name="Group 32"/>
          <p:cNvGrpSpPr/>
          <p:nvPr userDrawn="1"/>
        </p:nvGrpSpPr>
        <p:grpSpPr>
          <a:xfrm>
            <a:off x="457199" y="3303510"/>
            <a:ext cx="8181976" cy="1029799"/>
            <a:chOff x="457199" y="4370039"/>
            <a:chExt cx="8181976" cy="1373065"/>
          </a:xfrm>
        </p:grpSpPr>
        <p:sp>
          <p:nvSpPr>
            <p:cNvPr id="34" name="Rectangle 33"/>
            <p:cNvSpPr/>
            <p:nvPr/>
          </p:nvSpPr>
          <p:spPr>
            <a:xfrm>
              <a:off x="457199" y="4370039"/>
              <a:ext cx="8181976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bg2"/>
                </a:solidFill>
                <a:latin typeface="Gill Sans"/>
                <a:cs typeface="Gill Sans"/>
              </a:endParaRPr>
            </a:p>
          </p:txBody>
        </p:sp>
        <p:sp>
          <p:nvSpPr>
            <p:cNvPr id="35" name="Rectangle 34"/>
            <p:cNvSpPr/>
            <p:nvPr userDrawn="1"/>
          </p:nvSpPr>
          <p:spPr>
            <a:xfrm>
              <a:off x="457199" y="4370039"/>
              <a:ext cx="8181975" cy="6334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36" name="Group 35"/>
          <p:cNvGrpSpPr/>
          <p:nvPr userDrawn="1"/>
        </p:nvGrpSpPr>
        <p:grpSpPr>
          <a:xfrm>
            <a:off x="2746375" y="1110136"/>
            <a:ext cx="2762250" cy="1029799"/>
            <a:chOff x="2746375" y="1480176"/>
            <a:chExt cx="2762250" cy="1373065"/>
          </a:xfrm>
        </p:grpSpPr>
        <p:sp>
          <p:nvSpPr>
            <p:cNvPr id="37" name="Rectangle 36"/>
            <p:cNvSpPr/>
            <p:nvPr/>
          </p:nvSpPr>
          <p:spPr>
            <a:xfrm>
              <a:off x="2746375" y="1480176"/>
              <a:ext cx="2762250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1"/>
                </a:solidFill>
                <a:latin typeface="Gill Sans"/>
                <a:cs typeface="Gill Sans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2746375" y="1480176"/>
              <a:ext cx="2762250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Group 38"/>
          <p:cNvGrpSpPr/>
          <p:nvPr userDrawn="1"/>
        </p:nvGrpSpPr>
        <p:grpSpPr>
          <a:xfrm>
            <a:off x="5611092" y="1110136"/>
            <a:ext cx="3028082" cy="1029799"/>
            <a:chOff x="5556249" y="1480176"/>
            <a:chExt cx="3082926" cy="1373065"/>
          </a:xfrm>
        </p:grpSpPr>
        <p:sp>
          <p:nvSpPr>
            <p:cNvPr id="40" name="Rectangle 39"/>
            <p:cNvSpPr/>
            <p:nvPr/>
          </p:nvSpPr>
          <p:spPr>
            <a:xfrm>
              <a:off x="5556250" y="1480176"/>
              <a:ext cx="3082925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accent1"/>
                </a:solidFill>
                <a:latin typeface="Gill Sans"/>
                <a:cs typeface="Gill Sans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5556249" y="1480176"/>
              <a:ext cx="3082925" cy="6334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42" name="Group 41"/>
          <p:cNvGrpSpPr/>
          <p:nvPr userDrawn="1"/>
        </p:nvGrpSpPr>
        <p:grpSpPr>
          <a:xfrm>
            <a:off x="3582730" y="2210973"/>
            <a:ext cx="5056446" cy="1029799"/>
            <a:chOff x="3556000" y="2913323"/>
            <a:chExt cx="5083175" cy="1373065"/>
          </a:xfrm>
        </p:grpSpPr>
        <p:sp>
          <p:nvSpPr>
            <p:cNvPr id="43" name="Rectangle 42"/>
            <p:cNvSpPr/>
            <p:nvPr/>
          </p:nvSpPr>
          <p:spPr>
            <a:xfrm>
              <a:off x="3556000" y="2913323"/>
              <a:ext cx="5083175" cy="13730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>
                <a:solidFill>
                  <a:schemeClr val="tx2"/>
                </a:solidFill>
                <a:latin typeface="Gill Sans"/>
                <a:cs typeface="Gill San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3556000" y="2913323"/>
              <a:ext cx="5083174" cy="6334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>
                <a:solidFill>
                  <a:schemeClr val="tx2"/>
                </a:solidFill>
              </a:endParaRPr>
            </a:p>
          </p:txBody>
        </p:sp>
      </p:grpSp>
      <p:sp>
        <p:nvSpPr>
          <p:cNvPr id="24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457201" y="1197944"/>
            <a:ext cx="2198254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4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25" name="Content Placeholder 5"/>
          <p:cNvSpPr>
            <a:spLocks noGrp="1"/>
          </p:cNvSpPr>
          <p:nvPr>
            <p:ph sz="quarter" idx="15"/>
          </p:nvPr>
        </p:nvSpPr>
        <p:spPr>
          <a:xfrm>
            <a:off x="457210" y="1775180"/>
            <a:ext cx="2198255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2400" b="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5" name="Content Placeholder 5"/>
          <p:cNvSpPr>
            <a:spLocks noGrp="1"/>
          </p:cNvSpPr>
          <p:nvPr>
            <p:ph sz="quarter" idx="21" hasCustomPrompt="1"/>
          </p:nvPr>
        </p:nvSpPr>
        <p:spPr>
          <a:xfrm>
            <a:off x="2746376" y="1197944"/>
            <a:ext cx="2762250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4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6" name="Content Placeholder 5"/>
          <p:cNvSpPr>
            <a:spLocks noGrp="1"/>
          </p:cNvSpPr>
          <p:nvPr>
            <p:ph sz="quarter" idx="22"/>
          </p:nvPr>
        </p:nvSpPr>
        <p:spPr>
          <a:xfrm>
            <a:off x="2746378" y="1775180"/>
            <a:ext cx="2762251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2400" b="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7" name="Content Placeholder 5"/>
          <p:cNvSpPr>
            <a:spLocks noGrp="1"/>
          </p:cNvSpPr>
          <p:nvPr>
            <p:ph sz="quarter" idx="23" hasCustomPrompt="1"/>
          </p:nvPr>
        </p:nvSpPr>
        <p:spPr>
          <a:xfrm>
            <a:off x="5611093" y="1197944"/>
            <a:ext cx="3028080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4000" b="1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48" name="Content Placeholder 5"/>
          <p:cNvSpPr>
            <a:spLocks noGrp="1"/>
          </p:cNvSpPr>
          <p:nvPr>
            <p:ph sz="quarter" idx="24"/>
          </p:nvPr>
        </p:nvSpPr>
        <p:spPr>
          <a:xfrm>
            <a:off x="5611099" y="1775180"/>
            <a:ext cx="3028081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2400" b="0">
                <a:solidFill>
                  <a:schemeClr val="accent1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9" name="Content Placeholder 5"/>
          <p:cNvSpPr>
            <a:spLocks noGrp="1"/>
          </p:cNvSpPr>
          <p:nvPr>
            <p:ph sz="quarter" idx="25" hasCustomPrompt="1"/>
          </p:nvPr>
        </p:nvSpPr>
        <p:spPr>
          <a:xfrm>
            <a:off x="3582731" y="2283875"/>
            <a:ext cx="5056442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4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0" name="Content Placeholder 5"/>
          <p:cNvSpPr>
            <a:spLocks noGrp="1"/>
          </p:cNvSpPr>
          <p:nvPr>
            <p:ph sz="quarter" idx="26"/>
          </p:nvPr>
        </p:nvSpPr>
        <p:spPr>
          <a:xfrm>
            <a:off x="3582730" y="2861109"/>
            <a:ext cx="5056446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2400" b="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1" name="Content Placeholder 5"/>
          <p:cNvSpPr>
            <a:spLocks noGrp="1"/>
          </p:cNvSpPr>
          <p:nvPr>
            <p:ph sz="quarter" idx="27" hasCustomPrompt="1"/>
          </p:nvPr>
        </p:nvSpPr>
        <p:spPr>
          <a:xfrm>
            <a:off x="457200" y="2283875"/>
            <a:ext cx="3035298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4000" b="1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2" name="Content Placeholder 5"/>
          <p:cNvSpPr>
            <a:spLocks noGrp="1"/>
          </p:cNvSpPr>
          <p:nvPr>
            <p:ph sz="quarter" idx="28"/>
          </p:nvPr>
        </p:nvSpPr>
        <p:spPr>
          <a:xfrm>
            <a:off x="457206" y="2861109"/>
            <a:ext cx="3035299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2400" b="0">
                <a:solidFill>
                  <a:schemeClr val="tx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53" name="Content Placeholder 5"/>
          <p:cNvSpPr>
            <a:spLocks noGrp="1"/>
          </p:cNvSpPr>
          <p:nvPr>
            <p:ph sz="quarter" idx="29" hasCustomPrompt="1"/>
          </p:nvPr>
        </p:nvSpPr>
        <p:spPr>
          <a:xfrm>
            <a:off x="457201" y="3385708"/>
            <a:ext cx="8181972" cy="577231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4000" b="1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Edit</a:t>
            </a:r>
          </a:p>
        </p:txBody>
      </p:sp>
      <p:sp>
        <p:nvSpPr>
          <p:cNvPr id="54" name="Content Placeholder 5"/>
          <p:cNvSpPr>
            <a:spLocks noGrp="1"/>
          </p:cNvSpPr>
          <p:nvPr>
            <p:ph sz="quarter" idx="30"/>
          </p:nvPr>
        </p:nvSpPr>
        <p:spPr>
          <a:xfrm>
            <a:off x="457197" y="3962944"/>
            <a:ext cx="8181980" cy="323189"/>
          </a:xfrm>
        </p:spPr>
        <p:txBody>
          <a:bodyPr>
            <a:norm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None/>
              <a:tabLst/>
              <a:defRPr sz="2400" b="0">
                <a:solidFill>
                  <a:schemeClr val="bg2"/>
                </a:solidFill>
              </a:defRPr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9585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10152" y="15485"/>
            <a:ext cx="8229600" cy="6936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0" name="Rectangle 9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1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04904"/>
            <a:ext cx="8082552" cy="348972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760284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3417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Oval 39"/>
          <p:cNvSpPr/>
          <p:nvPr userDrawn="1"/>
        </p:nvSpPr>
        <p:spPr>
          <a:xfrm>
            <a:off x="1602040" y="1009064"/>
            <a:ext cx="3742766" cy="374103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Calibri"/>
              <a:cs typeface="Calibri"/>
            </a:endParaRPr>
          </a:p>
        </p:txBody>
      </p:sp>
      <p:sp>
        <p:nvSpPr>
          <p:cNvPr id="41" name="Oval 40"/>
          <p:cNvSpPr/>
          <p:nvPr userDrawn="1"/>
        </p:nvSpPr>
        <p:spPr>
          <a:xfrm>
            <a:off x="3764025" y="997539"/>
            <a:ext cx="3742766" cy="3742764"/>
          </a:xfrm>
          <a:prstGeom prst="ellipse">
            <a:avLst/>
          </a:prstGeom>
          <a:solidFill>
            <a:schemeClr val="accent3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Calibri"/>
              <a:cs typeface="Calibri"/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22280" y="2589950"/>
            <a:ext cx="1947510" cy="652254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-5079" y="708812"/>
            <a:ext cx="8691879" cy="47507"/>
            <a:chOff x="685800" y="1794746"/>
            <a:chExt cx="7772400" cy="179475"/>
          </a:xfrm>
        </p:grpSpPr>
        <p:sp>
          <p:nvSpPr>
            <p:cNvPr id="17" name="Rectangle 16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  <p:sp>
        <p:nvSpPr>
          <p:cNvPr id="23" name="Text Placeholder 22"/>
          <p:cNvSpPr>
            <a:spLocks noGrp="1"/>
          </p:cNvSpPr>
          <p:nvPr>
            <p:ph type="body" sz="quarter" idx="13"/>
          </p:nvPr>
        </p:nvSpPr>
        <p:spPr>
          <a:xfrm>
            <a:off x="310162" y="0"/>
            <a:ext cx="7986713" cy="708422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14" hasCustomPrompt="1"/>
          </p:nvPr>
        </p:nvSpPr>
        <p:spPr>
          <a:xfrm>
            <a:off x="3569790" y="2589610"/>
            <a:ext cx="1968500" cy="65246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5" hasCustomPrompt="1"/>
          </p:nvPr>
        </p:nvSpPr>
        <p:spPr>
          <a:xfrm>
            <a:off x="5538290" y="2589610"/>
            <a:ext cx="1968500" cy="652462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1135514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239899" y="4582584"/>
            <a:ext cx="2229555" cy="3902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5075" y="0"/>
            <a:ext cx="9186334" cy="4185826"/>
          </a:xfr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42334" y="4233334"/>
            <a:ext cx="9242778" cy="916571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5844" y="4471120"/>
            <a:ext cx="5813600" cy="455768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13" name="Rectangle 12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3962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12469" y="4593469"/>
            <a:ext cx="2229555" cy="52826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4817" y="0"/>
            <a:ext cx="9186334" cy="4185826"/>
          </a:xfr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5844" y="4471120"/>
            <a:ext cx="5813600" cy="455768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accent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1" name="Group 20"/>
          <p:cNvGrpSpPr/>
          <p:nvPr userDrawn="1"/>
        </p:nvGrpSpPr>
        <p:grpSpPr>
          <a:xfrm>
            <a:off x="-42334" y="4185826"/>
            <a:ext cx="9203267" cy="47507"/>
            <a:chOff x="685800" y="1794746"/>
            <a:chExt cx="7772400" cy="179475"/>
          </a:xfrm>
        </p:grpSpPr>
        <p:sp>
          <p:nvSpPr>
            <p:cNvPr id="22" name="Rectangle 21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24" name="Rectangle 23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208608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363798" y="4553643"/>
            <a:ext cx="2229555" cy="5898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25400" y="1011586"/>
            <a:ext cx="9186334" cy="4138319"/>
          </a:xfr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9" name="Rectangle 8"/>
          <p:cNvSpPr/>
          <p:nvPr userDrawn="1"/>
        </p:nvSpPr>
        <p:spPr>
          <a:xfrm>
            <a:off x="-21167" y="-3292"/>
            <a:ext cx="9178768" cy="967370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5844" y="231435"/>
            <a:ext cx="8220956" cy="455768"/>
          </a:xfrm>
        </p:spPr>
        <p:txBody>
          <a:bodyPr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698999"/>
            <a:ext cx="2133600" cy="273844"/>
          </a:xfrm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168" y="964078"/>
            <a:ext cx="9175834" cy="47507"/>
            <a:chOff x="685800" y="1794746"/>
            <a:chExt cx="7772400" cy="179475"/>
          </a:xfrm>
        </p:grpSpPr>
        <p:sp>
          <p:nvSpPr>
            <p:cNvPr id="13" name="Rectangle 12"/>
            <p:cNvSpPr/>
            <p:nvPr userDrawn="1"/>
          </p:nvSpPr>
          <p:spPr>
            <a:xfrm>
              <a:off x="685800" y="1794746"/>
              <a:ext cx="1170819" cy="179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1856619" y="1794746"/>
              <a:ext cx="2206599" cy="179475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4063218" y="1794746"/>
              <a:ext cx="4394982" cy="179475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79852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-line-bluetext-colorshield.png"/>
          <p:cNvPicPr>
            <a:picLocks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4699003"/>
            <a:ext cx="1809092" cy="34747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0464" y="1029708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ill Sans"/>
                <a:cs typeface="Gill Sans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ill Sans"/>
                <a:cs typeface="Gill Sans"/>
              </a:defRPr>
            </a:lvl1pPr>
          </a:lstStyle>
          <a:p>
            <a:fld id="{8A758EFE-665F-4341-B5B8-2DAEADA52F6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itle Placeholder 1"/>
          <p:cNvSpPr>
            <a:spLocks noGrp="1"/>
          </p:cNvSpPr>
          <p:nvPr>
            <p:ph type="title"/>
          </p:nvPr>
        </p:nvSpPr>
        <p:spPr>
          <a:xfrm>
            <a:off x="323520" y="-19089"/>
            <a:ext cx="8229600" cy="727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7833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9" r:id="rId2"/>
    <p:sldLayoutId id="2147483660" r:id="rId3"/>
    <p:sldLayoutId id="2147483670" r:id="rId4"/>
    <p:sldLayoutId id="2147483668" r:id="rId5"/>
    <p:sldLayoutId id="2147483658" r:id="rId6"/>
    <p:sldLayoutId id="2147483667" r:id="rId7"/>
    <p:sldLayoutId id="2147483652" r:id="rId8"/>
    <p:sldLayoutId id="2147483653" r:id="rId9"/>
    <p:sldLayoutId id="2147483671" r:id="rId10"/>
    <p:sldLayoutId id="2147483672" r:id="rId11"/>
    <p:sldLayoutId id="2147483654" r:id="rId12"/>
    <p:sldLayoutId id="2147483655" r:id="rId13"/>
    <p:sldLayoutId id="2147483656" r:id="rId14"/>
    <p:sldLayoutId id="2147483657" r:id="rId15"/>
    <p:sldLayoutId id="2147483666" r:id="rId16"/>
    <p:sldLayoutId id="214748366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rgbClr val="95001A"/>
          </a:solidFill>
          <a:latin typeface="Gill Sans"/>
          <a:ea typeface="+mj-ea"/>
          <a:cs typeface="Gill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•"/>
        <a:defRPr sz="2800" kern="1200">
          <a:solidFill>
            <a:schemeClr val="accent6"/>
          </a:solidFill>
          <a:latin typeface="Gill Sans"/>
          <a:ea typeface="+mn-ea"/>
          <a:cs typeface="Gill Sans"/>
        </a:defRPr>
      </a:lvl1pPr>
      <a:lvl2pPr marL="742950" indent="-28575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–"/>
        <a:defRPr sz="2400" kern="1200">
          <a:solidFill>
            <a:schemeClr val="accent6"/>
          </a:solidFill>
          <a:latin typeface="Gill Sans"/>
          <a:ea typeface="+mn-ea"/>
          <a:cs typeface="Gill Sans"/>
        </a:defRPr>
      </a:lvl2pPr>
      <a:lvl3pPr marL="11430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•"/>
        <a:defRPr sz="2000" kern="1200">
          <a:solidFill>
            <a:schemeClr val="accent6"/>
          </a:solidFill>
          <a:latin typeface="Gill Sans"/>
          <a:ea typeface="+mn-ea"/>
          <a:cs typeface="Gill Sans"/>
        </a:defRPr>
      </a:lvl3pPr>
      <a:lvl4pPr marL="16002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–"/>
        <a:defRPr sz="1800" kern="1200">
          <a:solidFill>
            <a:schemeClr val="accent6"/>
          </a:solidFill>
          <a:latin typeface="Gill Sans"/>
          <a:ea typeface="+mn-ea"/>
          <a:cs typeface="Gill Sans"/>
        </a:defRPr>
      </a:lvl4pPr>
      <a:lvl5pPr marL="2057400" indent="-228600" algn="l" defTabSz="457200" rtl="0" eaLnBrk="1" latinLnBrk="0" hangingPunct="1">
        <a:spcBef>
          <a:spcPct val="20000"/>
        </a:spcBef>
        <a:buClr>
          <a:schemeClr val="tx1"/>
        </a:buClr>
        <a:buFont typeface="Arial"/>
        <a:buChar char="»"/>
        <a:defRPr sz="1800" kern="1200">
          <a:solidFill>
            <a:schemeClr val="accent6"/>
          </a:solidFill>
          <a:latin typeface="Gill Sans"/>
          <a:ea typeface="+mn-ea"/>
          <a:cs typeface="Gill San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	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000" dirty="0"/>
              <a:t>UFO Shape Prediction Project</a:t>
            </a:r>
            <a:br>
              <a:rPr lang="en-US" dirty="0"/>
            </a:b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Group 94</a:t>
            </a:r>
            <a:br>
              <a:rPr lang="en-US" dirty="0"/>
            </a:br>
            <a:r>
              <a:rPr lang="en-US" dirty="0" err="1"/>
              <a:t>Chenning</a:t>
            </a:r>
            <a:r>
              <a:rPr lang="en-US" dirty="0"/>
              <a:t> Huang, Jingyi Gong, </a:t>
            </a:r>
            <a:r>
              <a:rPr lang="en-US" dirty="0" err="1"/>
              <a:t>Shangyi</a:t>
            </a:r>
            <a:r>
              <a:rPr lang="en-US" dirty="0"/>
              <a:t> Du</a:t>
            </a:r>
          </a:p>
        </p:txBody>
      </p:sp>
    </p:spTree>
    <p:extLst>
      <p:ext uri="{BB962C8B-B14F-4D97-AF65-F5344CB8AC3E}">
        <p14:creationId xmlns:p14="http://schemas.microsoft.com/office/powerpoint/2010/main" val="3947575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A58248-145D-2883-511E-852C4AA60C29}"/>
              </a:ext>
            </a:extLst>
          </p:cNvPr>
          <p:cNvSpPr txBox="1"/>
          <p:nvPr/>
        </p:nvSpPr>
        <p:spPr>
          <a:xfrm>
            <a:off x="310152" y="1925419"/>
            <a:ext cx="87376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/>
                </a:solidFill>
                <a:latin typeface="Gill Sans"/>
                <a:cs typeface="Gill Sans"/>
              </a:rPr>
              <a:t>Model and interpret how contextual factors influence the reporting of UFO shapes using NUFORC sighting data from the late 20th century to the present.</a:t>
            </a:r>
            <a:endParaRPr lang="en-CN" sz="2800" dirty="0">
              <a:solidFill>
                <a:schemeClr val="accent6"/>
              </a:solidFill>
              <a:latin typeface="Gill Sans"/>
              <a:cs typeface="Gill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3659F-46BA-C74A-0AE0-650118AA523C}"/>
              </a:ext>
            </a:extLst>
          </p:cNvPr>
          <p:cNvSpPr txBox="1"/>
          <p:nvPr/>
        </p:nvSpPr>
        <p:spPr>
          <a:xfrm>
            <a:off x="310152" y="3894723"/>
            <a:ext cx="38247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600" dirty="0">
                <a:solidFill>
                  <a:schemeClr val="bg1">
                    <a:lumMod val="50000"/>
                  </a:schemeClr>
                </a:solidFill>
              </a:rPr>
              <a:t>NUFORC: National UFO Reporting Center</a:t>
            </a:r>
          </a:p>
        </p:txBody>
      </p:sp>
    </p:spTree>
    <p:extLst>
      <p:ext uri="{BB962C8B-B14F-4D97-AF65-F5344CB8AC3E}">
        <p14:creationId xmlns:p14="http://schemas.microsoft.com/office/powerpoint/2010/main" val="421809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0CB63-F76A-A5F6-BC01-BCE4966B1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8C7CA-6E5D-9AC7-013B-E7DE33462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BC87DE-C65C-AA01-3D1C-BC77E5A0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0152" y="170657"/>
            <a:ext cx="8229600" cy="693605"/>
          </a:xfrm>
        </p:spPr>
        <p:txBody>
          <a:bodyPr>
            <a:normAutofit/>
          </a:bodyPr>
          <a:lstStyle/>
          <a:p>
            <a:r>
              <a:rPr lang="en-US" dirty="0"/>
              <a:t>Value Proposition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C481432-0CDF-F099-C9BE-39201843D9E4}"/>
              </a:ext>
            </a:extLst>
          </p:cNvPr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83FFBE-E115-FD7C-2629-5869110B2DDE}"/>
              </a:ext>
            </a:extLst>
          </p:cNvPr>
          <p:cNvSpPr txBox="1"/>
          <p:nvPr/>
        </p:nvSpPr>
        <p:spPr>
          <a:xfrm>
            <a:off x="-213101" y="2032833"/>
            <a:ext cx="9276106" cy="3028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/>
              <a:cs typeface="Gill Sans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/>
              <a:cs typeface="Gill Sans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/>
              <a:cs typeface="Gill Sans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/>
              <a:cs typeface="Gill Sans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endParaRPr lang="en-US" sz="2200" dirty="0">
              <a:solidFill>
                <a:schemeClr val="accent6"/>
              </a:solidFill>
              <a:latin typeface="Gill Sans"/>
              <a:cs typeface="Gill Sans"/>
            </a:endParaRPr>
          </a:p>
          <a:p>
            <a:pPr lvl="1">
              <a:lnSpc>
                <a:spcPct val="80000"/>
              </a:lnSpc>
              <a:spcBef>
                <a:spcPct val="20000"/>
              </a:spcBef>
              <a:buClr>
                <a:schemeClr val="tx1"/>
              </a:buClr>
            </a:pPr>
            <a:r>
              <a:rPr lang="en-US" sz="2000" dirty="0">
                <a:solidFill>
                  <a:schemeClr val="accent6"/>
                </a:solidFill>
                <a:latin typeface="Gill Sans"/>
                <a:cs typeface="Gill Sans"/>
              </a:rPr>
              <a:t>Ultimately, this work helps clarify whether reported UFO shapes reflect actual aerial anomalies, or if they are shaped more by human interpretation, environment, and culture.</a:t>
            </a:r>
          </a:p>
          <a:p>
            <a:endParaRPr lang="en-CN" sz="2800" dirty="0">
              <a:solidFill>
                <a:schemeClr val="accent6"/>
              </a:solidFill>
              <a:latin typeface="Gill Sans"/>
              <a:cs typeface="Gill San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9140F4-E9A2-DF02-D35D-D8D13CB79F66}"/>
              </a:ext>
            </a:extLst>
          </p:cNvPr>
          <p:cNvSpPr txBox="1"/>
          <p:nvPr/>
        </p:nvSpPr>
        <p:spPr>
          <a:xfrm>
            <a:off x="457199" y="1323870"/>
            <a:ext cx="7791107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-</a:t>
            </a:r>
            <a:r>
              <a:rPr lang="en-CN" sz="1600" dirty="0"/>
              <a:t>  </a:t>
            </a:r>
            <a:r>
              <a:rPr lang="en-US" sz="1600" dirty="0"/>
              <a:t>Evaluate whether UFO shape reports are driven by </a:t>
            </a:r>
            <a:r>
              <a:rPr lang="en-US" sz="1600" b="1" dirty="0"/>
              <a:t>actual observational features</a:t>
            </a:r>
          </a:p>
          <a:p>
            <a:r>
              <a:rPr lang="en-US" sz="1600" dirty="0"/>
              <a:t>   e.g., distance to UFO, duration of UFO</a:t>
            </a:r>
          </a:p>
          <a:p>
            <a:endParaRPr lang="en-US" sz="1600" dirty="0"/>
          </a:p>
          <a:p>
            <a:r>
              <a:rPr lang="en-US" sz="1600" dirty="0"/>
              <a:t>-  Detect </a:t>
            </a:r>
            <a:r>
              <a:rPr lang="en-US" sz="1600" b="1" dirty="0"/>
              <a:t>geographic and temporal trends</a:t>
            </a:r>
            <a:r>
              <a:rPr lang="en-US" sz="1600" dirty="0"/>
              <a:t> that may indicate environmental causes to </a:t>
            </a:r>
          </a:p>
          <a:p>
            <a:r>
              <a:rPr lang="en-US" sz="1600" dirty="0"/>
              <a:t>UFO shapes.</a:t>
            </a:r>
          </a:p>
          <a:p>
            <a:endParaRPr lang="en-US" sz="1600" dirty="0"/>
          </a:p>
          <a:p>
            <a:r>
              <a:rPr lang="en-US" sz="1600" dirty="0"/>
              <a:t>-  Identify potential </a:t>
            </a:r>
            <a:r>
              <a:rPr lang="en-US" sz="1600" b="1" dirty="0"/>
              <a:t>human-driven reporting biases</a:t>
            </a:r>
            <a:r>
              <a:rPr lang="en-US" sz="1600" dirty="0"/>
              <a:t>.</a:t>
            </a:r>
          </a:p>
          <a:p>
            <a:r>
              <a:rPr lang="en-US" sz="1600" dirty="0"/>
              <a:t>   e.g., culture, literacy, population density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1F7A97-0851-175F-583F-89CF491C2B79}"/>
              </a:ext>
            </a:extLst>
          </p:cNvPr>
          <p:cNvSpPr txBox="1"/>
          <p:nvPr/>
        </p:nvSpPr>
        <p:spPr>
          <a:xfrm>
            <a:off x="106953" y="891703"/>
            <a:ext cx="2287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Our project allows us to:</a:t>
            </a:r>
            <a:endParaRPr lang="en-CN" sz="1600" dirty="0"/>
          </a:p>
        </p:txBody>
      </p:sp>
    </p:spTree>
    <p:extLst>
      <p:ext uri="{BB962C8B-B14F-4D97-AF65-F5344CB8AC3E}">
        <p14:creationId xmlns:p14="http://schemas.microsoft.com/office/powerpoint/2010/main" val="160456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 Information</a:t>
            </a:r>
          </a:p>
          <a:p>
            <a:r>
              <a:rPr lang="en-US" dirty="0"/>
              <a:t>Major learnings from EDA</a:t>
            </a:r>
          </a:p>
          <a:p>
            <a:r>
              <a:rPr lang="en-US" dirty="0"/>
              <a:t>Modeling results</a:t>
            </a:r>
          </a:p>
          <a:p>
            <a:r>
              <a:rPr lang="en-US" dirty="0"/>
              <a:t>Implications and insights</a:t>
            </a:r>
          </a:p>
          <a:p>
            <a:r>
              <a:rPr lang="en-US" dirty="0"/>
              <a:t>Challenges/limitations/potential future 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514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1</a:t>
            </a:r>
            <a:r>
              <a:rPr lang="en-US" baseline="30000" dirty="0"/>
              <a:t>st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CD87CC-F407-0336-BCC3-867FDB210C3B}"/>
              </a:ext>
            </a:extLst>
          </p:cNvPr>
          <p:cNvSpPr txBox="1"/>
          <p:nvPr/>
        </p:nvSpPr>
        <p:spPr>
          <a:xfrm>
            <a:off x="251011" y="884518"/>
            <a:ext cx="897136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2000" dirty="0">
                <a:solidFill>
                  <a:srgbClr val="95001A"/>
                </a:solidFill>
                <a:latin typeface="Gill Sans"/>
                <a:ea typeface="+mj-ea"/>
                <a:cs typeface="Gill Sans"/>
              </a:rPr>
              <a:t>Main Dataset:  </a:t>
            </a:r>
            <a:r>
              <a:rPr lang="en-US" dirty="0">
                <a:solidFill>
                  <a:schemeClr val="accent3"/>
                </a:solidFill>
              </a:rPr>
              <a:t>NUFORC UFO Sightings (NUFORC, Kaggle)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Reports of UFO sighting events submitted to the </a:t>
            </a:r>
            <a:r>
              <a:rPr lang="en-US" sz="1600" b="1" dirty="0">
                <a:solidFill>
                  <a:schemeClr val="accent5"/>
                </a:solidFill>
              </a:rPr>
              <a:t>National UFO Reporting Center</a:t>
            </a:r>
            <a:r>
              <a:rPr lang="en-US" sz="1600" dirty="0">
                <a:solidFill>
                  <a:schemeClr val="accent5"/>
                </a:solidFill>
              </a:rPr>
              <a:t> over 20</a:t>
            </a:r>
            <a:r>
              <a:rPr lang="en-US" sz="1600" baseline="30000" dirty="0">
                <a:solidFill>
                  <a:schemeClr val="accent5"/>
                </a:solidFill>
              </a:rPr>
              <a:t>th</a:t>
            </a:r>
            <a:r>
              <a:rPr lang="en-US" sz="1600" dirty="0">
                <a:solidFill>
                  <a:schemeClr val="accent5"/>
                </a:solidFill>
              </a:rPr>
              <a:t> century.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80,000+ reports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977BD170-7353-5E82-5D8F-4DA176C2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52" y="2184525"/>
            <a:ext cx="8227864" cy="10726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4D8A907-7E34-83C3-3B17-DC0C71A07F79}"/>
              </a:ext>
            </a:extLst>
          </p:cNvPr>
          <p:cNvSpPr txBox="1"/>
          <p:nvPr/>
        </p:nvSpPr>
        <p:spPr>
          <a:xfrm>
            <a:off x="310152" y="3687483"/>
            <a:ext cx="35830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actual observational features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937808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8893C-14EF-E251-8DBB-10FE5057A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D275B5C-7335-A743-2A2F-FB742D45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BCE8444-80EB-4A49-2942-64DE38D7B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2</a:t>
            </a:r>
            <a:r>
              <a:rPr lang="en-US" baseline="30000" dirty="0"/>
              <a:t>nd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DB6CB-73F7-CEAF-8B70-3806438630C0}"/>
              </a:ext>
            </a:extLst>
          </p:cNvPr>
          <p:cNvSpPr txBox="1"/>
          <p:nvPr/>
        </p:nvSpPr>
        <p:spPr>
          <a:xfrm>
            <a:off x="251011" y="884518"/>
            <a:ext cx="65862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City Features Dataset (</a:t>
            </a:r>
            <a:r>
              <a:rPr lang="en-US" dirty="0" err="1">
                <a:solidFill>
                  <a:schemeClr val="accent3"/>
                </a:solidFill>
              </a:rPr>
              <a:t>SimpleMaps</a:t>
            </a:r>
            <a:r>
              <a:rPr lang="en-US" dirty="0">
                <a:solidFill>
                  <a:schemeClr val="accent3"/>
                </a:solidFill>
              </a:rPr>
              <a:t>, NASA/NOAA VIIRS, </a:t>
            </a:r>
            <a:r>
              <a:rPr lang="en-US" dirty="0" err="1">
                <a:solidFill>
                  <a:schemeClr val="accent3"/>
                </a:solidFill>
              </a:rPr>
              <a:t>WorldClim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Geographic and environmental characteristics of cities worldwide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48,000+ cities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9A9235-135F-984F-CE27-B39FDBD00C9D}"/>
              </a:ext>
            </a:extLst>
          </p:cNvPr>
          <p:cNvSpPr txBox="1"/>
          <p:nvPr/>
        </p:nvSpPr>
        <p:spPr>
          <a:xfrm>
            <a:off x="310152" y="3687483"/>
            <a:ext cx="4110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geographic and temporal features</a:t>
            </a:r>
            <a:endParaRPr lang="en-CN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744AD6-4107-E06A-9C27-C78BAC447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52" y="2065792"/>
            <a:ext cx="8610696" cy="124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95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B42D7-76A8-69D1-F5FC-108750582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62124E-40AE-8510-D917-B4EF7CA18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7D0DB8-1370-329A-E243-2A071D53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3</a:t>
            </a:r>
            <a:r>
              <a:rPr lang="en-US" baseline="30000" dirty="0"/>
              <a:t>rd </a:t>
            </a:r>
            <a:r>
              <a:rPr lang="en-US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BE9A0-4648-2167-E079-D8B981D1BA22}"/>
              </a:ext>
            </a:extLst>
          </p:cNvPr>
          <p:cNvSpPr txBox="1"/>
          <p:nvPr/>
        </p:nvSpPr>
        <p:spPr>
          <a:xfrm>
            <a:off x="251011" y="884518"/>
            <a:ext cx="708277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Global Airports Dataset (</a:t>
            </a:r>
            <a:r>
              <a:rPr lang="en-US" dirty="0" err="1">
                <a:solidFill>
                  <a:schemeClr val="accent3"/>
                </a:solidFill>
              </a:rPr>
              <a:t>OurAirports</a:t>
            </a:r>
            <a:r>
              <a:rPr lang="en-US" dirty="0">
                <a:solidFill>
                  <a:schemeClr val="accent3"/>
                </a:solidFill>
              </a:rPr>
              <a:t>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Up-to-date information on airport locations and aviation infrastructure worldwide.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84,000+ airports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53B5A-54F5-2639-219A-C59A3A026005}"/>
              </a:ext>
            </a:extLst>
          </p:cNvPr>
          <p:cNvSpPr txBox="1"/>
          <p:nvPr/>
        </p:nvSpPr>
        <p:spPr>
          <a:xfrm>
            <a:off x="310152" y="3932519"/>
            <a:ext cx="3834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human-driven reporting biases</a:t>
            </a:r>
            <a:r>
              <a:rPr lang="en-US" dirty="0"/>
              <a:t> </a:t>
            </a:r>
            <a:endParaRPr lang="en-CN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B182C5-4462-31C6-85D3-B3F74D295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152" y="2087045"/>
            <a:ext cx="4792116" cy="16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562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6646F-81A9-AE90-289C-CEE3BB012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5F5251-7962-9A28-2E21-C2C3A857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938BA0-17D1-2025-7E92-A02D3FA0E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Dataset Used 4</a:t>
            </a:r>
            <a:r>
              <a:rPr lang="en-US" baseline="30000" dirty="0"/>
              <a:t>th</a:t>
            </a:r>
            <a:r>
              <a:rPr lang="en-US" dirty="0"/>
              <a:t>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4A25A-1877-34D0-F5C9-CD37AB39E216}"/>
              </a:ext>
            </a:extLst>
          </p:cNvPr>
          <p:cNvSpPr txBox="1"/>
          <p:nvPr/>
        </p:nvSpPr>
        <p:spPr>
          <a:xfrm>
            <a:off x="251011" y="884518"/>
            <a:ext cx="7123104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Country Education Level Dataset (Our World in Data, Kaggle)</a:t>
            </a:r>
          </a:p>
          <a:p>
            <a:r>
              <a:rPr lang="en-US" sz="1600" dirty="0">
                <a:solidFill>
                  <a:schemeClr val="accent5"/>
                </a:solidFill>
              </a:rPr>
              <a:t>National-level indicators reflecting cultural exposure and socioeconomic conditions</a:t>
            </a:r>
          </a:p>
          <a:p>
            <a:endParaRPr lang="en-US" sz="1600" dirty="0">
              <a:solidFill>
                <a:schemeClr val="accent5"/>
              </a:solidFill>
            </a:endParaRPr>
          </a:p>
          <a:p>
            <a:r>
              <a:rPr lang="en-US" sz="1600" b="1" dirty="0"/>
              <a:t>Size:</a:t>
            </a:r>
            <a:r>
              <a:rPr lang="en-US" sz="1600" dirty="0"/>
              <a:t> 200+ countries</a:t>
            </a:r>
          </a:p>
          <a:p>
            <a:endParaRPr lang="en-US" sz="1600" dirty="0"/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350362-4F13-B315-F6E3-9A095ACAE7D9}"/>
              </a:ext>
            </a:extLst>
          </p:cNvPr>
          <p:cNvSpPr txBox="1"/>
          <p:nvPr/>
        </p:nvSpPr>
        <p:spPr>
          <a:xfrm>
            <a:off x="3979732" y="4329667"/>
            <a:ext cx="3834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→ human-driven reporting biases</a:t>
            </a:r>
            <a:r>
              <a:rPr lang="en-US" dirty="0"/>
              <a:t> </a:t>
            </a:r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50D5F2-0E46-C1AF-3D77-8BA3733010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47"/>
          <a:stretch>
            <a:fillRect/>
          </a:stretch>
        </p:blipFill>
        <p:spPr>
          <a:xfrm>
            <a:off x="366907" y="2056293"/>
            <a:ext cx="2716827" cy="2593094"/>
          </a:xfrm>
          <a:prstGeom prst="rect">
            <a:avLst/>
          </a:prstGeom>
        </p:spPr>
      </p:pic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037AC378-249C-4CE0-8AC2-81CB002C9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9732" y="1995617"/>
            <a:ext cx="3482953" cy="19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769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#1</a:t>
            </a:r>
            <a:endParaRPr lang="en-US" dirty="0"/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5A5BD8-2E13-3C8A-1EA5-E531B88C9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014" y="751594"/>
            <a:ext cx="3494547" cy="4391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BB53D2-35E8-2DCB-D801-B51C26B7D47F}"/>
              </a:ext>
            </a:extLst>
          </p:cNvPr>
          <p:cNvSpPr txBox="1"/>
          <p:nvPr/>
        </p:nvSpPr>
        <p:spPr>
          <a:xfrm>
            <a:off x="251011" y="884518"/>
            <a:ext cx="4709003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Target Class Distribution (Shape Distribution)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/>
              <a:t>Shows the severe class imbalance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Informed our choice of SMOTE in feature engineering to prepare data for modeling</a:t>
            </a:r>
            <a:endParaRPr lang="en-US" sz="14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9136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9C86-0D7D-6271-E17B-0E1193CAF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92FEC-544B-C94A-3519-33D237786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2748E1-831B-0EE5-0D70-8054A3B08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#2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9D8EFC6E-5586-831C-AC4E-6D356157FF44}"/>
              </a:ext>
            </a:extLst>
          </p:cNvPr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847CB3-6860-276B-FAE4-D4362072A10F}"/>
              </a:ext>
            </a:extLst>
          </p:cNvPr>
          <p:cNvSpPr txBox="1"/>
          <p:nvPr/>
        </p:nvSpPr>
        <p:spPr>
          <a:xfrm>
            <a:off x="251012" y="884518"/>
            <a:ext cx="393781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Shape Distribution in Most Reported American Cities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400" dirty="0"/>
              <a:t>Different shape rankings among cities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Distribution of shapes not tied to a single region</a:t>
            </a:r>
          </a:p>
          <a:p>
            <a:pPr marL="285750" indent="-285750">
              <a:buFontTx/>
              <a:buChar char="-"/>
            </a:pPr>
            <a:endParaRPr lang="en-US" sz="1600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A76AF0A2-90DE-4413-920D-DA3BB3BF7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011" y="884518"/>
            <a:ext cx="4710499" cy="377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6435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FAC7C-7CED-116E-5825-3895CBF49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17B76F-DD27-485A-C58B-71B97E353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B0E40D-CAC7-07F1-0660-983BE9564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#3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5EEED942-33B0-A4C4-1810-5F06C0D61C1B}"/>
              </a:ext>
            </a:extLst>
          </p:cNvPr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D61BE02-2537-0DCF-3709-C2661EC0C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09" b="3857"/>
          <a:stretch>
            <a:fillRect/>
          </a:stretch>
        </p:blipFill>
        <p:spPr bwMode="auto">
          <a:xfrm>
            <a:off x="4750342" y="846810"/>
            <a:ext cx="3963936" cy="385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2FC580-F7CE-88CE-F1D6-F48FE031D089}"/>
              </a:ext>
            </a:extLst>
          </p:cNvPr>
          <p:cNvSpPr txBox="1"/>
          <p:nvPr/>
        </p:nvSpPr>
        <p:spPr>
          <a:xfrm>
            <a:off x="251011" y="884518"/>
            <a:ext cx="432098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24-Hour Patterns for Top 5 Shapes</a:t>
            </a:r>
          </a:p>
          <a:p>
            <a:endParaRPr lang="en-US" dirty="0">
              <a:solidFill>
                <a:schemeClr val="accent3"/>
              </a:solidFill>
            </a:endParaRPr>
          </a:p>
          <a:p>
            <a:endParaRPr lang="en-US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/>
              <a:t>Shows shapes behave differently across hours: ”light" has largest difference between night and afternoon, “circle” and ”triangle” remain flat</a:t>
            </a:r>
          </a:p>
        </p:txBody>
      </p:sp>
    </p:spTree>
    <p:extLst>
      <p:ext uri="{BB962C8B-B14F-4D97-AF65-F5344CB8AC3E}">
        <p14:creationId xmlns:p14="http://schemas.microsoft.com/office/powerpoint/2010/main" val="1124376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08311A-B289-7F4A-2348-9B8859FA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D227F-77ED-8197-5AD6-5BDFA5D1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#4</a:t>
            </a:r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481FF9C-0EAB-B5E4-A81D-5601ED7BE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74" r="-244"/>
          <a:stretch>
            <a:fillRect/>
          </a:stretch>
        </p:blipFill>
        <p:spPr bwMode="auto">
          <a:xfrm>
            <a:off x="4769565" y="761094"/>
            <a:ext cx="4123424" cy="400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D0D8E6-7FBF-AEBD-01EF-4EE62240885E}"/>
              </a:ext>
            </a:extLst>
          </p:cNvPr>
          <p:cNvSpPr txBox="1"/>
          <p:nvPr/>
        </p:nvSpPr>
        <p:spPr>
          <a:xfrm>
            <a:off x="251011" y="884518"/>
            <a:ext cx="396393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Shape Composition by Time of Day</a:t>
            </a:r>
          </a:p>
          <a:p>
            <a:endParaRPr lang="en-US" sz="1400" dirty="0">
              <a:solidFill>
                <a:schemeClr val="accent3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400" dirty="0"/>
              <a:t>Confirms nighttime dominates reporting for all shapes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Shows unequal distribution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Justifies including </a:t>
            </a:r>
            <a:r>
              <a:rPr lang="en-US" sz="1400" dirty="0" err="1"/>
              <a:t>time_of_day</a:t>
            </a:r>
            <a:r>
              <a:rPr lang="en-US" sz="1400" dirty="0"/>
              <a:t> as a categorical feature since it shifts shape probabilities differently</a:t>
            </a:r>
            <a:endParaRPr lang="en-US" sz="14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292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4A3A57-49CF-600E-73E9-2C5283434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C95B1B-796B-F489-77E1-CC28F4285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Insights</a:t>
            </a:r>
            <a:r>
              <a:rPr lang="zh-CN" altLang="en-US" dirty="0"/>
              <a:t> </a:t>
            </a:r>
            <a:r>
              <a:rPr lang="en-US" altLang="zh-CN" dirty="0"/>
              <a:t>#5</a:t>
            </a:r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7AA69823-9710-C2C3-EBB2-9F6761C58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2103" y="2112140"/>
            <a:ext cx="4451075" cy="2652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BAD8A677-5677-3E12-53CE-FB780B1EE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6209"/>
            <a:ext cx="4717591" cy="2439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008919-90AC-E142-B0DA-B3C64A0C8272}"/>
              </a:ext>
            </a:extLst>
          </p:cNvPr>
          <p:cNvSpPr txBox="1"/>
          <p:nvPr/>
        </p:nvSpPr>
        <p:spPr>
          <a:xfrm>
            <a:off x="251011" y="884518"/>
            <a:ext cx="6713889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Duration vs Shape Analysis</a:t>
            </a:r>
          </a:p>
          <a:p>
            <a:r>
              <a:rPr lang="en-US" sz="1600" dirty="0"/>
              <a:t>Boxplot showing median duration per shape; bar chart showing mean duration</a:t>
            </a:r>
          </a:p>
          <a:p>
            <a:endParaRPr lang="en-US" sz="1600" dirty="0"/>
          </a:p>
          <a:p>
            <a:pPr marL="285750" indent="-285750">
              <a:buFontTx/>
              <a:buChar char="-"/>
            </a:pPr>
            <a:r>
              <a:rPr lang="en-US" sz="1400" dirty="0"/>
              <a:t>Duration (seconds) has predictive signal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Suggesting certain shapes are associated with longer/shorter sightings</a:t>
            </a:r>
          </a:p>
          <a:p>
            <a:endParaRPr lang="en-US" sz="1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553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Details of the contributions (3-4 slides)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Explain the high-level idea of the paper</a:t>
            </a:r>
          </a:p>
          <a:p>
            <a:pPr lvl="1"/>
            <a:r>
              <a:rPr lang="en-US" dirty="0"/>
              <a:t>preferably using an overview image, if relevant</a:t>
            </a:r>
          </a:p>
          <a:p>
            <a:r>
              <a:rPr lang="en-US" dirty="0"/>
              <a:t>Identify and clearly explain the assumptions made</a:t>
            </a:r>
          </a:p>
          <a:p>
            <a:r>
              <a:rPr lang="en-US" dirty="0"/>
              <a:t>Present the details of the proposed approaches, including important mathematical details.</a:t>
            </a:r>
          </a:p>
          <a:p>
            <a:pPr lvl="1"/>
            <a:r>
              <a:rPr lang="en-US" dirty="0"/>
              <a:t>If there are parts of the model that already existed, point it out clearly to isolate the contributions of this work</a:t>
            </a:r>
          </a:p>
        </p:txBody>
      </p:sp>
    </p:spTree>
    <p:extLst>
      <p:ext uri="{BB962C8B-B14F-4D97-AF65-F5344CB8AC3E}">
        <p14:creationId xmlns:p14="http://schemas.microsoft.com/office/powerpoint/2010/main" val="58455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Results and Analysis (2-3 slides)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does the paper argue for the claimed contributions</a:t>
            </a:r>
          </a:p>
          <a:p>
            <a:pPr lvl="1"/>
            <a:r>
              <a:rPr lang="en-US" dirty="0"/>
              <a:t>Typically these will be the experiments conducted to test the hypothesis; in some cases these can be mathematical proofs; or in rare cases it will be only arguments and examples.</a:t>
            </a:r>
          </a:p>
          <a:p>
            <a:pPr lvl="1"/>
            <a:r>
              <a:rPr lang="en-US" dirty="0"/>
              <a:t>Focus on the key experiments/arguments (not necessarily all)</a:t>
            </a:r>
          </a:p>
          <a:p>
            <a:pPr lvl="1"/>
            <a:endParaRPr lang="en-US" dirty="0"/>
          </a:p>
          <a:p>
            <a:r>
              <a:rPr lang="en-US" dirty="0"/>
              <a:t>Clearly define the experimental setup, datasets used, evaluation methodology</a:t>
            </a:r>
          </a:p>
          <a:p>
            <a:endParaRPr lang="en-US" dirty="0"/>
          </a:p>
          <a:p>
            <a:r>
              <a:rPr lang="en-US" dirty="0"/>
              <a:t>Analyze the results presented in the paper, and present only data-points that convey some information.</a:t>
            </a:r>
          </a:p>
          <a:p>
            <a:pPr lvl="1"/>
            <a:r>
              <a:rPr lang="en-US" dirty="0"/>
              <a:t>Do not blindly copy/screenshot tables from the papers. Make your own tables/plots (A template is at the end of this slide deck)</a:t>
            </a:r>
          </a:p>
          <a:p>
            <a:pPr lvl="1"/>
            <a:endParaRPr lang="en-US" dirty="0"/>
          </a:p>
          <a:p>
            <a:r>
              <a:rPr lang="en-US" dirty="0"/>
              <a:t>Analysis of the outputs – If there is analysis provided for outputs, example predictions (if present), etc.</a:t>
            </a:r>
          </a:p>
        </p:txBody>
      </p:sp>
    </p:spTree>
    <p:extLst>
      <p:ext uri="{BB962C8B-B14F-4D97-AF65-F5344CB8AC3E}">
        <p14:creationId xmlns:p14="http://schemas.microsoft.com/office/powerpoint/2010/main" val="361824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10152" y="0"/>
            <a:ext cx="8229600" cy="693605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Conclusions, Shortcomings and Future Work (2-3 slides)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457199" y="1016001"/>
            <a:ext cx="7890933" cy="357862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24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•"/>
              <a:defRPr sz="20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–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chemeClr val="tx1"/>
              </a:buClr>
              <a:buFont typeface="Arial"/>
              <a:buChar char="»"/>
              <a:defRPr sz="1800" kern="1200">
                <a:solidFill>
                  <a:schemeClr val="accent6"/>
                </a:solidFill>
                <a:latin typeface="Gill Sans"/>
                <a:ea typeface="+mn-ea"/>
                <a:cs typeface="Gill San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have </a:t>
            </a:r>
            <a:r>
              <a:rPr lang="en-US" b="1" dirty="0"/>
              <a:t>you</a:t>
            </a:r>
            <a:r>
              <a:rPr lang="en-US" dirty="0"/>
              <a:t> learned from this paper?</a:t>
            </a:r>
          </a:p>
          <a:p>
            <a:pPr lvl="1"/>
            <a:r>
              <a:rPr lang="en-US" dirty="0"/>
              <a:t>What are the important lessons that this work leaves for the community</a:t>
            </a:r>
          </a:p>
          <a:p>
            <a:pPr lvl="1"/>
            <a:r>
              <a:rPr lang="en-US" dirty="0"/>
              <a:t>Are there any resources, </a:t>
            </a:r>
            <a:r>
              <a:rPr lang="en-US" dirty="0" err="1"/>
              <a:t>eg</a:t>
            </a:r>
            <a:r>
              <a:rPr lang="en-US" dirty="0"/>
              <a:t>. Code, Datasets, Evaluation Metrics, etc. that are used / can be used for future research</a:t>
            </a:r>
          </a:p>
          <a:p>
            <a:r>
              <a:rPr lang="en-US" dirty="0"/>
              <a:t>What are the major shortcomings of the paper</a:t>
            </a:r>
          </a:p>
          <a:p>
            <a:pPr lvl="1"/>
            <a:r>
              <a:rPr lang="en-US" dirty="0"/>
              <a:t>It is usually easy to criticize papers, but coming up with solutions for criticism is difficult – Try to come up with possible solutions and discuss</a:t>
            </a:r>
          </a:p>
          <a:p>
            <a:r>
              <a:rPr lang="en-US" dirty="0"/>
              <a:t>How can this work be improved/extended?</a:t>
            </a:r>
          </a:p>
        </p:txBody>
      </p:sp>
    </p:spTree>
    <p:extLst>
      <p:ext uri="{BB962C8B-B14F-4D97-AF65-F5344CB8AC3E}">
        <p14:creationId xmlns:p14="http://schemas.microsoft.com/office/powerpoint/2010/main" val="49235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Slide</a:t>
            </a:r>
          </a:p>
        </p:txBody>
      </p:sp>
      <p:graphicFrame>
        <p:nvGraphicFramePr>
          <p:cNvPr id="6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9290385"/>
              </p:ext>
            </p:extLst>
          </p:nvPr>
        </p:nvGraphicFramePr>
        <p:xfrm>
          <a:off x="430223" y="902494"/>
          <a:ext cx="8229599" cy="222504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850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3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3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ill Sans"/>
                          <a:cs typeface="Gill Sans"/>
                        </a:rPr>
                        <a:t>Lorem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Gill Sans"/>
                          <a:cs typeface="Gill Sans"/>
                        </a:rPr>
                        <a:t>Lorem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  <a:endParaRPr lang="en-US" sz="1200" b="0" i="0" u="none" strike="noStrike" dirty="0">
                        <a:solidFill>
                          <a:srgbClr val="800000"/>
                        </a:solidFill>
                        <a:effectLst/>
                        <a:latin typeface="Gill Sans"/>
                        <a:cs typeface="Gill Sans"/>
                      </a:endParaRPr>
                    </a:p>
                  </a:txBody>
                  <a:tcPr marL="8859" marR="8859" marT="65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  <a:endParaRPr lang="en-US" sz="1200" dirty="0">
                        <a:solidFill>
                          <a:srgbClr val="FF0000"/>
                        </a:solidFill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ill Sans"/>
                          <a:cs typeface="Gill Sans"/>
                        </a:rPr>
                        <a:t>Lorem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  <a:endParaRPr lang="en-US" sz="1200" b="0" i="0" u="none" strike="noStrike" dirty="0">
                        <a:solidFill>
                          <a:srgbClr val="800000"/>
                        </a:solidFill>
                        <a:effectLst/>
                        <a:latin typeface="Gill Sans"/>
                        <a:cs typeface="Gill Sans"/>
                      </a:endParaRPr>
                    </a:p>
                  </a:txBody>
                  <a:tcPr marL="8859" marR="8859" marT="65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  <a:endParaRPr lang="en-US" sz="1200" dirty="0">
                        <a:solidFill>
                          <a:srgbClr val="FF0000"/>
                        </a:solidFill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ill Sans"/>
                          <a:cs typeface="Gill Sans"/>
                        </a:rPr>
                        <a:t>Lorem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  <a:endParaRPr lang="en-US" sz="1200" b="0" i="0" u="none" strike="noStrike" dirty="0">
                        <a:solidFill>
                          <a:srgbClr val="800000"/>
                        </a:solidFill>
                        <a:effectLst/>
                        <a:latin typeface="Gill Sans"/>
                        <a:cs typeface="Gill Sans"/>
                      </a:endParaRPr>
                    </a:p>
                  </a:txBody>
                  <a:tcPr marL="8859" marR="8859" marT="65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  <a:endParaRPr lang="en-US" sz="1200" dirty="0">
                        <a:solidFill>
                          <a:srgbClr val="FF0000"/>
                        </a:solidFill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ill Sans"/>
                          <a:cs typeface="Gill Sans"/>
                        </a:rPr>
                        <a:t>Lorem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  <a:endParaRPr lang="en-US" sz="1200" b="0" i="0" u="none" strike="noStrike" dirty="0">
                        <a:solidFill>
                          <a:srgbClr val="800000"/>
                        </a:solidFill>
                        <a:effectLst/>
                        <a:latin typeface="Gill Sans"/>
                        <a:cs typeface="Gill Sans"/>
                      </a:endParaRPr>
                    </a:p>
                  </a:txBody>
                  <a:tcPr marL="8859" marR="8859" marT="65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  <a:endParaRPr lang="en-US" sz="1200" dirty="0">
                        <a:solidFill>
                          <a:srgbClr val="FF0000"/>
                        </a:solidFill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ill Sans"/>
                          <a:cs typeface="Gill Sans"/>
                        </a:rPr>
                        <a:t>Lorem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  <a:endParaRPr lang="en-US" sz="1200" b="0" i="0" u="none" strike="noStrike" dirty="0">
                        <a:solidFill>
                          <a:srgbClr val="800000"/>
                        </a:solidFill>
                        <a:effectLst/>
                        <a:latin typeface="Gill Sans"/>
                        <a:cs typeface="Gill Sans"/>
                      </a:endParaRPr>
                    </a:p>
                  </a:txBody>
                  <a:tcPr marL="8859" marR="8859" marT="65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  <a:endParaRPr lang="en-US" sz="1200" dirty="0">
                        <a:solidFill>
                          <a:srgbClr val="FF0000"/>
                        </a:solidFill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ill Sans"/>
                          <a:cs typeface="Gill Sans"/>
                        </a:rPr>
                        <a:t>Lorem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  <a:endParaRPr lang="en-US" sz="1200" b="0" i="0" u="none" strike="noStrike" dirty="0">
                        <a:solidFill>
                          <a:srgbClr val="800000"/>
                        </a:solidFill>
                        <a:effectLst/>
                        <a:latin typeface="Gill Sans"/>
                        <a:cs typeface="Gill Sans"/>
                      </a:endParaRPr>
                    </a:p>
                  </a:txBody>
                  <a:tcPr marL="8859" marR="8859" marT="65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  <a:endParaRPr lang="en-US" sz="1200" dirty="0">
                        <a:solidFill>
                          <a:srgbClr val="FF0000"/>
                        </a:solidFill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r>
                        <a:rPr lang="en-US" sz="1100" dirty="0">
                          <a:latin typeface="Gill Sans"/>
                          <a:cs typeface="Gill Sans"/>
                        </a:rPr>
                        <a:t>Lorem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Ipsum</a:t>
                      </a:r>
                      <a:endParaRPr lang="en-US" sz="1200" b="1" i="0" u="none" strike="noStrike" dirty="0">
                        <a:solidFill>
                          <a:srgbClr val="800000"/>
                        </a:solidFill>
                        <a:effectLst/>
                        <a:latin typeface="Gill Sans"/>
                        <a:cs typeface="Gill Sans"/>
                      </a:endParaRPr>
                    </a:p>
                  </a:txBody>
                  <a:tcPr marL="8859" marR="8859" marT="654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Dolor</a:t>
                      </a:r>
                      <a:endParaRPr lang="en-US" sz="1200" dirty="0"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Closit</a:t>
                      </a:r>
                      <a:endParaRPr lang="en-US" sz="1200" dirty="0">
                        <a:solidFill>
                          <a:srgbClr val="FF0000"/>
                        </a:solidFill>
                        <a:latin typeface="Gill Sans"/>
                        <a:cs typeface="Gill Sans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latin typeface="Gill Sans"/>
                          <a:cs typeface="Gill Sans"/>
                        </a:rPr>
                        <a:t>Amet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72902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58EFE-665F-4341-B5B8-2DAEADA52F6C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Slide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1776731"/>
              </p:ext>
            </p:extLst>
          </p:nvPr>
        </p:nvGraphicFramePr>
        <p:xfrm>
          <a:off x="585445" y="1006930"/>
          <a:ext cx="7246231" cy="3374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5351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3">
      <a:dk1>
        <a:srgbClr val="00144D"/>
      </a:dk1>
      <a:lt1>
        <a:sysClr val="window" lastClr="FFFFFF"/>
      </a:lt1>
      <a:dk2>
        <a:srgbClr val="57000A"/>
      </a:dk2>
      <a:lt2>
        <a:srgbClr val="82AFD3"/>
      </a:lt2>
      <a:accent1>
        <a:srgbClr val="95001A"/>
      </a:accent1>
      <a:accent2>
        <a:srgbClr val="C0504D"/>
      </a:accent2>
      <a:accent3>
        <a:srgbClr val="045EA7"/>
      </a:accent3>
      <a:accent4>
        <a:srgbClr val="F2C100"/>
      </a:accent4>
      <a:accent5>
        <a:srgbClr val="00144D"/>
      </a:accent5>
      <a:accent6>
        <a:srgbClr val="44464B"/>
      </a:accent6>
      <a:hlink>
        <a:srgbClr val="00144D"/>
      </a:hlink>
      <a:folHlink>
        <a:srgbClr val="82AFD3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9396</TotalTime>
  <Words>831</Words>
  <Application>Microsoft Macintosh PowerPoint</Application>
  <PresentationFormat>On-screen Show (16:9)</PresentationFormat>
  <Paragraphs>163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Gill Sans</vt:lpstr>
      <vt:lpstr>Office Theme</vt:lpstr>
      <vt:lpstr>    UFO Shape Prediction Project </vt:lpstr>
      <vt:lpstr>Objective</vt:lpstr>
      <vt:lpstr>Value Proposition</vt:lpstr>
      <vt:lpstr>Contents:</vt:lpstr>
      <vt:lpstr>Dataset Used 1st </vt:lpstr>
      <vt:lpstr>Dataset Used 2nd </vt:lpstr>
      <vt:lpstr>Dataset Used 3rd   </vt:lpstr>
      <vt:lpstr>Dataset Used 4th  </vt:lpstr>
      <vt:lpstr>EDA Insights #1</vt:lpstr>
      <vt:lpstr>EDA Insights #2</vt:lpstr>
      <vt:lpstr>EDA Insights #3</vt:lpstr>
      <vt:lpstr>EDA Insights #4</vt:lpstr>
      <vt:lpstr>EDA Insights #5</vt:lpstr>
      <vt:lpstr>Details of the contributions (3-4 slides)</vt:lpstr>
      <vt:lpstr>Results and Analysis (2-3 slides)</vt:lpstr>
      <vt:lpstr>Conclusions, Shortcomings and Future Work (2-3 slides)</vt:lpstr>
      <vt:lpstr>Table Slide</vt:lpstr>
      <vt:lpstr>Chart Slide</vt:lpstr>
    </vt:vector>
  </TitlesOfParts>
  <Company>Zder0to5ive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Lindsey Tabor</dc:creator>
  <cp:lastModifiedBy>Microsoft Office User</cp:lastModifiedBy>
  <cp:revision>200</cp:revision>
  <dcterms:created xsi:type="dcterms:W3CDTF">2017-09-22T15:37:04Z</dcterms:created>
  <dcterms:modified xsi:type="dcterms:W3CDTF">2025-12-08T10:28:49Z</dcterms:modified>
</cp:coreProperties>
</file>