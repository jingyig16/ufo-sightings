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handoutMasterIdLst>
    <p:handoutMasterId r:id="rId26"/>
  </p:handoutMasterIdLst>
  <p:sldIdLst>
    <p:sldId id="263" r:id="rId3"/>
    <p:sldId id="311" r:id="rId4"/>
    <p:sldId id="320" r:id="rId5"/>
    <p:sldId id="296" r:id="rId6"/>
    <p:sldId id="305" r:id="rId7"/>
    <p:sldId id="324" r:id="rId8"/>
    <p:sldId id="321" r:id="rId9"/>
    <p:sldId id="325" r:id="rId10"/>
    <p:sldId id="314" r:id="rId11"/>
    <p:sldId id="327" r:id="rId12"/>
    <p:sldId id="328" r:id="rId13"/>
    <p:sldId id="329" r:id="rId15"/>
    <p:sldId id="326" r:id="rId16"/>
    <p:sldId id="330" r:id="rId17"/>
    <p:sldId id="331" r:id="rId18"/>
    <p:sldId id="332" r:id="rId19"/>
    <p:sldId id="333" r:id="rId20"/>
    <p:sldId id="315" r:id="rId21"/>
    <p:sldId id="317" r:id="rId22"/>
    <p:sldId id="319" r:id="rId23"/>
    <p:sldId id="261" r:id="rId24"/>
    <p:sldId id="292" r:id="rId2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6" userDrawn="1">
          <p15:clr>
            <a:srgbClr val="A4A3A4"/>
          </p15:clr>
        </p15:guide>
        <p15:guide id="2" pos="28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3149"/>
    <a:srgbClr val="662D49"/>
    <a:srgbClr val="663749"/>
    <a:srgbClr val="662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60" autoAdjust="0"/>
    <p:restoredTop sz="93117" autoAdjust="0"/>
  </p:normalViewPr>
  <p:slideViewPr>
    <p:cSldViewPr snapToGrid="0" snapToObjects="1" showGuides="1">
      <p:cViewPr varScale="1">
        <p:scale>
          <a:sx n="135" d="100"/>
          <a:sy n="135" d="100"/>
        </p:scale>
        <p:origin x="1472" y="192"/>
      </p:cViewPr>
      <p:guideLst>
        <p:guide orient="horz" pos="1646"/>
        <p:guide pos="28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9778001832953"/>
          <c:y val="0.0426701775093073"/>
          <c:w val="0.57948787445501"/>
          <c:h val="0.8203003873671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Restock Time</c:v>
                </c:pt>
              </c:strCache>
            </c:strRef>
          </c:tx>
          <c:spPr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Apples</c:v>
                </c:pt>
                <c:pt idx="1">
                  <c:v>Oranges</c:v>
                </c:pt>
                <c:pt idx="2">
                  <c:v>Bananas</c:v>
                </c:pt>
                <c:pt idx="3">
                  <c:v>Pears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8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Shelf Life</c:v>
                </c:pt>
              </c:strCache>
            </c:strRef>
          </c:tx>
          <c:spPr>
            <a:solidFill>
              <a:schemeClr val="bg2"/>
            </a:solidFill>
            <a:ln w="25400" cap="flat" cmpd="sng" algn="ctr">
              <a:noFill/>
              <a:prstDash val="solid"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Apples</c:v>
                </c:pt>
                <c:pt idx="1">
                  <c:v>Oranges</c:v>
                </c:pt>
                <c:pt idx="2">
                  <c:v>Bananas</c:v>
                </c:pt>
                <c:pt idx="3">
                  <c:v>Pears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15</c:v>
                </c:pt>
                <c:pt idx="2">
                  <c:v>7</c:v>
                </c:pt>
                <c:pt idx="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128992192"/>
        <c:axId val="-2128989408"/>
      </c:barChart>
      <c:catAx>
        <c:axId val="-212899219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28989408"/>
        <c:crosses val="autoZero"/>
        <c:auto val="1"/>
        <c:lblAlgn val="ctr"/>
        <c:lblOffset val="100"/>
        <c:noMultiLvlLbl val="0"/>
      </c:catAx>
      <c:valAx>
        <c:axId val="-212898940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28992192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780640032038725"/>
          <c:y val="0.411858241110321"/>
          <c:w val="0.219359967961275"/>
          <c:h val="0.176283284455973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1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f2bc7788-875f-47b6-bf51-96bf700c5d78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B5E162-9D79-2943-B0A3-211BF28B7513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2E400-0EC4-CD46-9C72-78BD5E94273C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BAB52-94AF-9448-9B1C-7768B1879D49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6000" kern="1200" dirty="0">
              <a:solidFill>
                <a:schemeClr val="accent3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-56445" y="5"/>
            <a:ext cx="9206200" cy="515143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4" name="Picture 13" descr="2-line-whit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599" y="4296762"/>
            <a:ext cx="1769927" cy="650138"/>
          </a:xfrm>
          <a:prstGeom prst="rect">
            <a:avLst/>
          </a:prstGeom>
        </p:spPr>
      </p:pic>
      <p:pic>
        <p:nvPicPr>
          <p:cNvPr id="13" name="Picture 12"/>
          <p:cNvPicPr/>
          <p:nvPr userDrawn="1"/>
        </p:nvPicPr>
        <p:blipFill>
          <a:blip r:embed="rId3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51675"/>
            <a:ext cx="3080816" cy="3457724"/>
          </a:xfrm>
          <a:prstGeom prst="rect">
            <a:avLst/>
          </a:prstGeom>
        </p:spPr>
      </p:pic>
      <p:sp>
        <p:nvSpPr>
          <p:cNvPr id="25" name="Title 1"/>
          <p:cNvSpPr>
            <a:spLocks noGrp="1"/>
          </p:cNvSpPr>
          <p:nvPr userDrawn="1"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6" name="Subtitle 2"/>
          <p:cNvSpPr>
            <a:spLocks noGrp="1"/>
          </p:cNvSpPr>
          <p:nvPr userDrawn="1">
            <p:ph type="subTitle" idx="1"/>
          </p:nvPr>
        </p:nvSpPr>
        <p:spPr>
          <a:xfrm>
            <a:off x="958151" y="3255792"/>
            <a:ext cx="7397039" cy="73152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grpSp>
        <p:nvGrpSpPr>
          <p:cNvPr id="34" name="Group 33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35" name="Rectangle 34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7" name="Rectangle 36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2-line-bluetext-colorshield.png"/>
          <p:cNvPicPr/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157" b="-1906"/>
          <a:stretch>
            <a:fillRect/>
          </a:stretch>
        </p:blipFill>
        <p:spPr>
          <a:xfrm>
            <a:off x="6585599" y="4296761"/>
            <a:ext cx="1769927" cy="656963"/>
          </a:xfrm>
          <a:prstGeom prst="rect">
            <a:avLst/>
          </a:prstGeom>
        </p:spPr>
      </p:pic>
      <p:pic>
        <p:nvPicPr>
          <p:cNvPr id="14" name="Picture 13" descr="upennwatermark.pdf"/>
          <p:cNvPicPr/>
          <p:nvPr userDrawn="1"/>
        </p:nvPicPr>
        <p:blipFill>
          <a:blip r:embed="rId3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36510"/>
            <a:ext cx="3080816" cy="34728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8151" y="3255792"/>
            <a:ext cx="7397039" cy="658114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grpSp>
        <p:nvGrpSpPr>
          <p:cNvPr id="10" name="Group 9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7" name="Rectangle 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6" name="Rectangle 5"/>
          <p:cNvSpPr/>
          <p:nvPr userDrawn="1"/>
        </p:nvSpPr>
        <p:spPr>
          <a:xfrm>
            <a:off x="254010" y="4572000"/>
            <a:ext cx="2243667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9" y="0"/>
            <a:ext cx="9143999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pic>
        <p:nvPicPr>
          <p:cNvPr id="13" name="Picture 12" descr="1-line-blu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upennwatermark.pdf"/>
          <p:cNvPicPr/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6156" cy="37459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2" name="Rectangle 1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upennwatermark.pdf"/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8896" cy="3749040"/>
          </a:xfrm>
          <a:prstGeom prst="rect">
            <a:avLst/>
          </a:prstGeom>
        </p:spPr>
      </p:pic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4038600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04902"/>
            <a:ext cx="4038600" cy="34897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7992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546495"/>
            <a:ext cx="4040188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3" y="1066669"/>
            <a:ext cx="4041775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3" y="1546495"/>
            <a:ext cx="4041775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42182" y="1782939"/>
            <a:ext cx="2544621" cy="479822"/>
          </a:xfrm>
        </p:spPr>
        <p:txBody>
          <a:bodyPr anchor="b">
            <a:no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42182" y="2310651"/>
            <a:ext cx="2544621" cy="2282515"/>
          </a:xfrm>
        </p:spPr>
        <p:txBody>
          <a:bodyPr>
            <a:normAutofit/>
          </a:bodyPr>
          <a:lstStyle>
            <a:lvl1pPr marL="342900" marR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 sz="16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cxnSp>
        <p:nvCxnSpPr>
          <p:cNvPr id="23" name="Straight Connector 22"/>
          <p:cNvCxnSpPr/>
          <p:nvPr userDrawn="1"/>
        </p:nvCxnSpPr>
        <p:spPr>
          <a:xfrm>
            <a:off x="5908842" y="1099992"/>
            <a:ext cx="0" cy="3599013"/>
          </a:xfrm>
          <a:prstGeom prst="line">
            <a:avLst/>
          </a:prstGeom>
          <a:ln w="9525" cmpd="sng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5"/>
          <p:cNvSpPr>
            <a:spLocks noGrp="1"/>
          </p:cNvSpPr>
          <p:nvPr>
            <p:ph sz="quarter" idx="14"/>
          </p:nvPr>
        </p:nvSpPr>
        <p:spPr>
          <a:xfrm>
            <a:off x="310162" y="148515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/>
          </p:nvPr>
        </p:nvSpPr>
        <p:spPr>
          <a:xfrm>
            <a:off x="310162" y="180834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6" name="Content Placeholder 5"/>
          <p:cNvSpPr>
            <a:spLocks noGrp="1"/>
          </p:cNvSpPr>
          <p:nvPr>
            <p:ph sz="quarter" idx="16"/>
          </p:nvPr>
        </p:nvSpPr>
        <p:spPr>
          <a:xfrm>
            <a:off x="310162" y="235369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7" name="Content Placeholder 5"/>
          <p:cNvSpPr>
            <a:spLocks noGrp="1"/>
          </p:cNvSpPr>
          <p:nvPr>
            <p:ph sz="quarter" idx="17"/>
          </p:nvPr>
        </p:nvSpPr>
        <p:spPr>
          <a:xfrm>
            <a:off x="310162" y="26768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8" name="Content Placeholder 5"/>
          <p:cNvSpPr>
            <a:spLocks noGrp="1"/>
          </p:cNvSpPr>
          <p:nvPr>
            <p:ph sz="quarter" idx="18"/>
          </p:nvPr>
        </p:nvSpPr>
        <p:spPr>
          <a:xfrm>
            <a:off x="310162" y="3191895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9" name="Content Placeholder 5"/>
          <p:cNvSpPr>
            <a:spLocks noGrp="1"/>
          </p:cNvSpPr>
          <p:nvPr>
            <p:ph sz="quarter" idx="19"/>
          </p:nvPr>
        </p:nvSpPr>
        <p:spPr>
          <a:xfrm>
            <a:off x="310162" y="35150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20"/>
          </p:nvPr>
        </p:nvSpPr>
        <p:spPr>
          <a:xfrm>
            <a:off x="309033" y="965872"/>
            <a:ext cx="5295900" cy="41910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0144D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9" name="Rectangle 18"/>
          <p:cNvSpPr/>
          <p:nvPr/>
        </p:nvSpPr>
        <p:spPr>
          <a:xfrm>
            <a:off x="457210" y="1110136"/>
            <a:ext cx="2198255" cy="10297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accent1"/>
              </a:solidFill>
              <a:latin typeface="Gill Sans"/>
              <a:cs typeface="Gill San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457209" y="1110132"/>
            <a:ext cx="2198255" cy="475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457198" y="2210973"/>
            <a:ext cx="3035300" cy="1029799"/>
            <a:chOff x="457198" y="2913323"/>
            <a:chExt cx="3035300" cy="1373065"/>
          </a:xfrm>
        </p:grpSpPr>
        <p:sp>
          <p:nvSpPr>
            <p:cNvPr id="31" name="Rectangle 30"/>
            <p:cNvSpPr/>
            <p:nvPr/>
          </p:nvSpPr>
          <p:spPr>
            <a:xfrm>
              <a:off x="457199" y="2913323"/>
              <a:ext cx="3035299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/>
                <a:cs typeface="Gill Sans"/>
              </a:endParaRPr>
            </a:p>
          </p:txBody>
        </p:sp>
        <p:sp>
          <p:nvSpPr>
            <p:cNvPr id="32" name="Rectangle 31"/>
            <p:cNvSpPr/>
            <p:nvPr userDrawn="1"/>
          </p:nvSpPr>
          <p:spPr>
            <a:xfrm>
              <a:off x="457198" y="2913323"/>
              <a:ext cx="3035300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457199" y="3303510"/>
            <a:ext cx="8181976" cy="1029799"/>
            <a:chOff x="457199" y="4370039"/>
            <a:chExt cx="8181976" cy="1373065"/>
          </a:xfrm>
        </p:grpSpPr>
        <p:sp>
          <p:nvSpPr>
            <p:cNvPr id="34" name="Rectangle 33"/>
            <p:cNvSpPr/>
            <p:nvPr/>
          </p:nvSpPr>
          <p:spPr>
            <a:xfrm>
              <a:off x="457199" y="4370039"/>
              <a:ext cx="8181976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bg2"/>
                </a:solidFill>
                <a:latin typeface="Gill Sans"/>
                <a:cs typeface="Gill Sans"/>
              </a:endParaRPr>
            </a:p>
          </p:txBody>
        </p:sp>
        <p:sp>
          <p:nvSpPr>
            <p:cNvPr id="35" name="Rectangle 34"/>
            <p:cNvSpPr/>
            <p:nvPr userDrawn="1"/>
          </p:nvSpPr>
          <p:spPr>
            <a:xfrm>
              <a:off x="457199" y="4370039"/>
              <a:ext cx="8181975" cy="6334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2746375" y="1110136"/>
            <a:ext cx="2762250" cy="1029799"/>
            <a:chOff x="2746375" y="1480176"/>
            <a:chExt cx="2762250" cy="1373065"/>
          </a:xfrm>
        </p:grpSpPr>
        <p:sp>
          <p:nvSpPr>
            <p:cNvPr id="37" name="Rectangle 36"/>
            <p:cNvSpPr/>
            <p:nvPr/>
          </p:nvSpPr>
          <p:spPr>
            <a:xfrm>
              <a:off x="2746375" y="1480176"/>
              <a:ext cx="2762250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/>
                <a:cs typeface="Gill San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6375" y="1480176"/>
              <a:ext cx="2762250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5611092" y="1110136"/>
            <a:ext cx="3028082" cy="1029799"/>
            <a:chOff x="5556249" y="1480176"/>
            <a:chExt cx="3082926" cy="1373065"/>
          </a:xfrm>
        </p:grpSpPr>
        <p:sp>
          <p:nvSpPr>
            <p:cNvPr id="40" name="Rectangle 39"/>
            <p:cNvSpPr/>
            <p:nvPr/>
          </p:nvSpPr>
          <p:spPr>
            <a:xfrm>
              <a:off x="5556250" y="1480176"/>
              <a:ext cx="308292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/>
                <a:cs typeface="Gill San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56249" y="1480176"/>
              <a:ext cx="3082925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3582730" y="2210973"/>
            <a:ext cx="5056446" cy="1029799"/>
            <a:chOff x="3556000" y="2913323"/>
            <a:chExt cx="5083175" cy="1373065"/>
          </a:xfrm>
        </p:grpSpPr>
        <p:sp>
          <p:nvSpPr>
            <p:cNvPr id="43" name="Rectangle 42"/>
            <p:cNvSpPr/>
            <p:nvPr/>
          </p:nvSpPr>
          <p:spPr>
            <a:xfrm>
              <a:off x="3556000" y="2913323"/>
              <a:ext cx="508317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/>
                <a:cs typeface="Gill San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556000" y="2913323"/>
              <a:ext cx="5083174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24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457201" y="1197944"/>
            <a:ext cx="2198254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457210" y="1775180"/>
            <a:ext cx="2198255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5" name="Content Placeholder 5"/>
          <p:cNvSpPr>
            <a:spLocks noGrp="1"/>
          </p:cNvSpPr>
          <p:nvPr>
            <p:ph sz="quarter" idx="21" hasCustomPrompt="1"/>
          </p:nvPr>
        </p:nvSpPr>
        <p:spPr>
          <a:xfrm>
            <a:off x="2746376" y="1197944"/>
            <a:ext cx="276225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46" name="Content Placeholder 5"/>
          <p:cNvSpPr>
            <a:spLocks noGrp="1"/>
          </p:cNvSpPr>
          <p:nvPr>
            <p:ph sz="quarter" idx="22" hasCustomPrompt="1"/>
          </p:nvPr>
        </p:nvSpPr>
        <p:spPr>
          <a:xfrm>
            <a:off x="2746378" y="1775180"/>
            <a:ext cx="276225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7" name="Content Placeholder 5"/>
          <p:cNvSpPr>
            <a:spLocks noGrp="1"/>
          </p:cNvSpPr>
          <p:nvPr>
            <p:ph sz="quarter" idx="23" hasCustomPrompt="1"/>
          </p:nvPr>
        </p:nvSpPr>
        <p:spPr>
          <a:xfrm>
            <a:off x="5611093" y="1197944"/>
            <a:ext cx="302808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48" name="Content Placeholder 5"/>
          <p:cNvSpPr>
            <a:spLocks noGrp="1"/>
          </p:cNvSpPr>
          <p:nvPr>
            <p:ph sz="quarter" idx="24" hasCustomPrompt="1"/>
          </p:nvPr>
        </p:nvSpPr>
        <p:spPr>
          <a:xfrm>
            <a:off x="5611099" y="1775180"/>
            <a:ext cx="302808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9" name="Content Placeholder 5"/>
          <p:cNvSpPr>
            <a:spLocks noGrp="1"/>
          </p:cNvSpPr>
          <p:nvPr>
            <p:ph sz="quarter" idx="25" hasCustomPrompt="1"/>
          </p:nvPr>
        </p:nvSpPr>
        <p:spPr>
          <a:xfrm>
            <a:off x="3582731" y="2283875"/>
            <a:ext cx="505644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0" name="Content Placeholder 5"/>
          <p:cNvSpPr>
            <a:spLocks noGrp="1"/>
          </p:cNvSpPr>
          <p:nvPr>
            <p:ph sz="quarter" idx="26" hasCustomPrompt="1"/>
          </p:nvPr>
        </p:nvSpPr>
        <p:spPr>
          <a:xfrm>
            <a:off x="3582730" y="2861109"/>
            <a:ext cx="5056446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51" name="Content Placeholder 5"/>
          <p:cNvSpPr>
            <a:spLocks noGrp="1"/>
          </p:cNvSpPr>
          <p:nvPr>
            <p:ph sz="quarter" idx="27" hasCustomPrompt="1"/>
          </p:nvPr>
        </p:nvSpPr>
        <p:spPr>
          <a:xfrm>
            <a:off x="457200" y="2283875"/>
            <a:ext cx="3035298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2" name="Content Placeholder 5"/>
          <p:cNvSpPr>
            <a:spLocks noGrp="1"/>
          </p:cNvSpPr>
          <p:nvPr>
            <p:ph sz="quarter" idx="28" hasCustomPrompt="1"/>
          </p:nvPr>
        </p:nvSpPr>
        <p:spPr>
          <a:xfrm>
            <a:off x="457206" y="2861109"/>
            <a:ext cx="3035299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53" name="Content Placeholder 5"/>
          <p:cNvSpPr>
            <a:spLocks noGrp="1"/>
          </p:cNvSpPr>
          <p:nvPr>
            <p:ph sz="quarter" idx="29" hasCustomPrompt="1"/>
          </p:nvPr>
        </p:nvSpPr>
        <p:spPr>
          <a:xfrm>
            <a:off x="457201" y="3385708"/>
            <a:ext cx="818197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4" name="Content Placeholder 5"/>
          <p:cNvSpPr>
            <a:spLocks noGrp="1"/>
          </p:cNvSpPr>
          <p:nvPr>
            <p:ph sz="quarter" idx="30" hasCustomPrompt="1"/>
          </p:nvPr>
        </p:nvSpPr>
        <p:spPr>
          <a:xfrm>
            <a:off x="457197" y="3962944"/>
            <a:ext cx="8181980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0" name="Rectangle 9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8082552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val 39"/>
          <p:cNvSpPr/>
          <p:nvPr userDrawn="1"/>
        </p:nvSpPr>
        <p:spPr>
          <a:xfrm>
            <a:off x="1602040" y="1009064"/>
            <a:ext cx="3742766" cy="37410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1" name="Oval 40"/>
          <p:cNvSpPr/>
          <p:nvPr userDrawn="1"/>
        </p:nvSpPr>
        <p:spPr>
          <a:xfrm>
            <a:off x="3764025" y="997539"/>
            <a:ext cx="3742766" cy="3742764"/>
          </a:xfrm>
          <a:prstGeom prst="ellipse">
            <a:avLst/>
          </a:prstGeom>
          <a:solidFill>
            <a:schemeClr val="accent3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22280" y="2589950"/>
            <a:ext cx="1947510" cy="652254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7" name="Rectangle 1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23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310162" y="0"/>
            <a:ext cx="7986713" cy="708422"/>
          </a:xfrm>
        </p:spPr>
        <p:txBody>
          <a:bodyPr anchor="ctr">
            <a:normAutofit/>
          </a:bodyPr>
          <a:lstStyle>
            <a:lvl1pPr marL="0" indent="0">
              <a:buNone/>
              <a:defRPr sz="36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4" hasCustomPrompt="1"/>
          </p:nvPr>
        </p:nvSpPr>
        <p:spPr>
          <a:xfrm>
            <a:off x="35697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  <a:endParaRPr lang="en-US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5" hasCustomPrompt="1"/>
          </p:nvPr>
        </p:nvSpPr>
        <p:spPr>
          <a:xfrm>
            <a:off x="55382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239899" y="4582584"/>
            <a:ext cx="2229555" cy="390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5075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42334" y="4233334"/>
            <a:ext cx="9242778" cy="916571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12469" y="4593469"/>
            <a:ext cx="2229555" cy="528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4817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accent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63798" y="4553643"/>
            <a:ext cx="2229555" cy="5898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25400" y="1011586"/>
            <a:ext cx="9186334" cy="4138319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21167" y="-3292"/>
            <a:ext cx="9178768" cy="96737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231435"/>
            <a:ext cx="8220956" cy="455768"/>
          </a:xfrm>
        </p:spPr>
        <p:txBody>
          <a:bodyPr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168" y="964078"/>
            <a:ext cx="9175834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-line-bluetext-colorshield.png"/>
          <p:cNvPicPr/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0464" y="1029708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"/>
                <a:cs typeface="Gill Sans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"/>
                <a:cs typeface="Gill Sans"/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0" name="Title Placeholder 1"/>
          <p:cNvSpPr>
            <a:spLocks noGrp="1"/>
          </p:cNvSpPr>
          <p:nvPr>
            <p:ph type="title"/>
          </p:nvPr>
        </p:nvSpPr>
        <p:spPr>
          <a:xfrm>
            <a:off x="323520" y="-19089"/>
            <a:ext cx="8229600" cy="727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95001A"/>
          </a:solidFill>
          <a:latin typeface="Gill Sans"/>
          <a:ea typeface="+mj-ea"/>
          <a:cs typeface="Gill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•"/>
        <a:defRPr sz="2800" kern="1200">
          <a:solidFill>
            <a:schemeClr val="accent6"/>
          </a:solidFill>
          <a:latin typeface="Gill Sans"/>
          <a:ea typeface="+mn-ea"/>
          <a:cs typeface="Gill Sans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–"/>
        <a:defRPr sz="2400" kern="1200">
          <a:solidFill>
            <a:schemeClr val="accent6"/>
          </a:solidFill>
          <a:latin typeface="Gill Sans"/>
          <a:ea typeface="+mn-ea"/>
          <a:cs typeface="Gill Sans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•"/>
        <a:defRPr sz="2000" kern="1200">
          <a:solidFill>
            <a:schemeClr val="accent6"/>
          </a:solidFill>
          <a:latin typeface="Gill Sans"/>
          <a:ea typeface="+mn-ea"/>
          <a:cs typeface="Gill Sans"/>
        </a:defRPr>
      </a:lvl3pPr>
      <a:lvl4pPr marL="16002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–"/>
        <a:defRPr sz="1800" kern="1200">
          <a:solidFill>
            <a:schemeClr val="accent6"/>
          </a:solidFill>
          <a:latin typeface="Gill Sans"/>
          <a:ea typeface="+mn-ea"/>
          <a:cs typeface="Gill Sans"/>
        </a:defRPr>
      </a:lvl4pPr>
      <a:lvl5pPr marL="20574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»"/>
        <a:defRPr sz="1800" kern="1200">
          <a:solidFill>
            <a:schemeClr val="accent6"/>
          </a:solidFill>
          <a:latin typeface="Gill Sans"/>
          <a:ea typeface="+mn-ea"/>
          <a:cs typeface="Gill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	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4000" dirty="0"/>
              <a:t>UFO Shape Prediction Project</a:t>
            </a:r>
            <a:br>
              <a:rPr lang="en-US" dirty="0"/>
            </a:br>
            <a:endParaRPr lang="en-US"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Group 94</a:t>
            </a:r>
            <a:br>
              <a:rPr lang="en-US" dirty="0"/>
            </a:br>
            <a:r>
              <a:rPr lang="en-US" dirty="0" err="1"/>
              <a:t>Chenning</a:t>
            </a:r>
            <a:r>
              <a:rPr lang="en-US" dirty="0"/>
              <a:t> Huang, Jingyi Gong, </a:t>
            </a:r>
            <a:r>
              <a:rPr lang="en-US" dirty="0" err="1"/>
              <a:t>Shangyi</a:t>
            </a:r>
            <a:r>
              <a:rPr lang="en-US" dirty="0"/>
              <a:t> Du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Objective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10152" y="1925419"/>
            <a:ext cx="873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/>
                </a:solidFill>
                <a:latin typeface="Gill Sans"/>
                <a:cs typeface="Gill Sans"/>
              </a:rPr>
              <a:t>Model and interpret how contextual factors influence the reporting of UFO shapes using NUFORC sighting data from the late 20th century to the present.</a:t>
            </a:r>
            <a:endParaRPr lang="en-US" sz="2800" dirty="0">
              <a:solidFill>
                <a:schemeClr val="accent6"/>
              </a:solidFill>
              <a:latin typeface="Gill Sans"/>
              <a:cs typeface="Gill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10152" y="3894723"/>
            <a:ext cx="38247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NUFORC: National UFO Reporting Center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170657"/>
            <a:ext cx="8229600" cy="693605"/>
          </a:xfrm>
        </p:spPr>
        <p:txBody>
          <a:bodyPr>
            <a:normAutofit/>
          </a:bodyPr>
          <a:lstStyle/>
          <a:p>
            <a:r>
              <a:rPr lang="en-US" dirty="0"/>
              <a:t>Value Proposition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-213101" y="2032833"/>
            <a:ext cx="9276106" cy="3028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r>
              <a:rPr lang="en-US" sz="2000" dirty="0">
                <a:solidFill>
                  <a:schemeClr val="accent6"/>
                </a:solidFill>
                <a:latin typeface="Gill Sans"/>
                <a:cs typeface="Gill Sans"/>
              </a:rPr>
              <a:t>Ultimately, this work helps clarify whether reported UFO shapes reflect actual aerial anomalies, or if they are shaped more by human interpretation, environment, and culture.</a:t>
            </a:r>
            <a:endParaRPr lang="en-US" sz="20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endParaRPr lang="en-US" sz="2800" dirty="0">
              <a:solidFill>
                <a:schemeClr val="accent6"/>
              </a:solidFill>
              <a:latin typeface="Gill Sans"/>
              <a:cs typeface="Gill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199" y="1323870"/>
            <a:ext cx="7791107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lang="en-US" sz="1600" dirty="0"/>
              <a:t>  </a:t>
            </a:r>
            <a:r>
              <a:rPr lang="en-US" sz="1600" dirty="0"/>
              <a:t>Evaluate whether UFO shape reports are driven by </a:t>
            </a:r>
            <a:r>
              <a:rPr lang="en-US" sz="1600" b="1" dirty="0"/>
              <a:t>actual observational features</a:t>
            </a:r>
            <a:endParaRPr lang="en-US" sz="1600" b="1" dirty="0"/>
          </a:p>
          <a:p>
            <a:r>
              <a:rPr lang="en-US" sz="1600" dirty="0"/>
              <a:t>   e.g., distance to UFO, duration of UFO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-  Detect </a:t>
            </a:r>
            <a:r>
              <a:rPr lang="en-US" sz="1600" b="1" dirty="0"/>
              <a:t>geographic and temporal trends</a:t>
            </a:r>
            <a:r>
              <a:rPr lang="en-US" sz="1600" dirty="0"/>
              <a:t> that may indicate environmental causes to </a:t>
            </a:r>
            <a:endParaRPr lang="en-US" sz="1600" dirty="0"/>
          </a:p>
          <a:p>
            <a:r>
              <a:rPr lang="en-US" sz="1600" dirty="0"/>
              <a:t>UFO shapes.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-  Identify potential </a:t>
            </a:r>
            <a:r>
              <a:rPr lang="en-US" sz="1600" b="1" dirty="0"/>
              <a:t>human-driven reporting biases</a:t>
            </a:r>
            <a:r>
              <a:rPr lang="en-US" sz="1600" dirty="0"/>
              <a:t>.</a:t>
            </a:r>
            <a:endParaRPr lang="en-US" sz="1600" dirty="0"/>
          </a:p>
          <a:p>
            <a:r>
              <a:rPr lang="en-US" sz="1600" dirty="0"/>
              <a:t>   e.g., culture, literacy, population density</a:t>
            </a:r>
            <a:endParaRPr lang="en-US"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106953" y="891703"/>
            <a:ext cx="2287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Our project allows us to: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Datasets Information</a:t>
            </a:r>
            <a:endParaRPr lang="en-US" dirty="0"/>
          </a:p>
          <a:p>
            <a:r>
              <a:rPr lang="en-US" dirty="0"/>
              <a:t>Major learnings from EDA</a:t>
            </a:r>
            <a:endParaRPr lang="en-US" dirty="0"/>
          </a:p>
          <a:p>
            <a:r>
              <a:rPr lang="en-US" dirty="0"/>
              <a:t>Modeling results</a:t>
            </a:r>
            <a:endParaRPr lang="en-US" dirty="0"/>
          </a:p>
          <a:p>
            <a:r>
              <a:rPr lang="en-US" dirty="0"/>
              <a:t>Implications and insights</a:t>
            </a:r>
            <a:endParaRPr lang="en-US" dirty="0"/>
          </a:p>
          <a:p>
            <a:r>
              <a:rPr lang="en-US" dirty="0"/>
              <a:t>Challenges/limitations/potential future work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897136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5001A"/>
                </a:solidFill>
                <a:latin typeface="Gill Sans"/>
                <a:ea typeface="+mj-ea"/>
                <a:cs typeface="Gill Sans"/>
              </a:rPr>
              <a:t>Main Dataset:  </a:t>
            </a:r>
            <a:r>
              <a:rPr lang="en-US" dirty="0">
                <a:solidFill>
                  <a:schemeClr val="accent3"/>
                </a:solidFill>
              </a:rPr>
              <a:t>NUFORC UFO Sightings (NUFORC, Kaggle)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Reports of UFO sighting events submitted to the </a:t>
            </a:r>
            <a:r>
              <a:rPr lang="en-US" sz="1600" b="1" dirty="0">
                <a:solidFill>
                  <a:schemeClr val="accent5"/>
                </a:solidFill>
              </a:rPr>
              <a:t>National UFO Reporting Center</a:t>
            </a:r>
            <a:r>
              <a:rPr lang="en-US" sz="1600" dirty="0">
                <a:solidFill>
                  <a:schemeClr val="accent5"/>
                </a:solidFill>
              </a:rPr>
              <a:t> over 20</a:t>
            </a:r>
            <a:r>
              <a:rPr lang="en-US" sz="1600" baseline="30000" dirty="0">
                <a:solidFill>
                  <a:schemeClr val="accent5"/>
                </a:solidFill>
              </a:rPr>
              <a:t>th</a:t>
            </a:r>
            <a:r>
              <a:rPr lang="en-US" sz="1600" dirty="0">
                <a:solidFill>
                  <a:schemeClr val="accent5"/>
                </a:solidFill>
              </a:rPr>
              <a:t> century.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80,000+ reports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pic>
        <p:nvPicPr>
          <p:cNvPr id="7" name="Picture 6" descr="A screenshot of a phone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184525"/>
            <a:ext cx="8227864" cy="1072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0152" y="3687483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actual observational features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2</a:t>
            </a:r>
            <a:r>
              <a:rPr lang="en-US" baseline="30000" dirty="0"/>
              <a:t>nd</a:t>
            </a:r>
            <a:r>
              <a:rPr lang="en-US" dirty="0"/>
              <a:t>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65862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City Features Dataset (</a:t>
            </a:r>
            <a:r>
              <a:rPr lang="en-US" dirty="0" err="1">
                <a:solidFill>
                  <a:schemeClr val="accent3"/>
                </a:solidFill>
              </a:rPr>
              <a:t>SimpleMaps</a:t>
            </a:r>
            <a:r>
              <a:rPr lang="en-US" dirty="0">
                <a:solidFill>
                  <a:schemeClr val="accent3"/>
                </a:solidFill>
              </a:rPr>
              <a:t>, NASA/NOAA VIIRS, </a:t>
            </a:r>
            <a:r>
              <a:rPr lang="en-US" dirty="0" err="1">
                <a:solidFill>
                  <a:schemeClr val="accent3"/>
                </a:solidFill>
              </a:rPr>
              <a:t>WorldClim</a:t>
            </a:r>
            <a:r>
              <a:rPr lang="en-US" dirty="0">
                <a:solidFill>
                  <a:schemeClr val="accent3"/>
                </a:solidFill>
              </a:rPr>
              <a:t>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Geographic and environmental characteristics of cities worldwide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48,000+ cities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687483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geographic and temporal features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065792"/>
            <a:ext cx="8610696" cy="1245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3</a:t>
            </a:r>
            <a:r>
              <a:rPr lang="en-US" baseline="30000" dirty="0"/>
              <a:t>rd </a:t>
            </a:r>
            <a:r>
              <a:rPr lang="en-US" dirty="0"/>
              <a:t> 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08277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Global Airports Dataset (</a:t>
            </a:r>
            <a:r>
              <a:rPr lang="en-US" dirty="0" err="1">
                <a:solidFill>
                  <a:schemeClr val="accent3"/>
                </a:solidFill>
              </a:rPr>
              <a:t>OurAirports</a:t>
            </a:r>
            <a:r>
              <a:rPr lang="en-US" dirty="0">
                <a:solidFill>
                  <a:schemeClr val="accent3"/>
                </a:solidFill>
              </a:rPr>
              <a:t>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Up-to-date information on airport locations and aviation infrastructure worldwide.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84,000+ airports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932519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9" name="Picture 8" descr="A screenshot of a computer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087045"/>
            <a:ext cx="4792116" cy="16004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4</a:t>
            </a:r>
            <a:r>
              <a:rPr lang="en-US" baseline="30000" dirty="0"/>
              <a:t>th</a:t>
            </a:r>
            <a:r>
              <a:rPr lang="en-US" dirty="0"/>
              <a:t> 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12310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Country Education Level Dataset (Our World in Data, Kaggle)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National-level indicators reflecting cultural exposure and socioeconomic conditions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200+ countries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79732" y="4329667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rcRect b="1247"/>
          <a:stretch>
            <a:fillRect/>
          </a:stretch>
        </p:blipFill>
        <p:spPr>
          <a:xfrm>
            <a:off x="366907" y="2056293"/>
            <a:ext cx="2716827" cy="2593094"/>
          </a:xfrm>
          <a:prstGeom prst="rect">
            <a:avLst/>
          </a:prstGeom>
        </p:spPr>
      </p:pic>
      <p:pic>
        <p:nvPicPr>
          <p:cNvPr id="10" name="Picture 9" descr="A screenshot of a graph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732" y="1995617"/>
            <a:ext cx="3482953" cy="19718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#1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014" y="751594"/>
            <a:ext cx="3494547" cy="4391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51011" y="884518"/>
            <a:ext cx="470900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Target Class Distribution (Shape Distribution)</a:t>
            </a:r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the severe class imbalance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Informed our choice of SMOTE in feature engineering to prepare data for modeling</a:t>
            </a:r>
            <a:endParaRPr lang="en-US" sz="14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#2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51012" y="884518"/>
            <a:ext cx="39378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Distribution in Most Reported American Cities</a:t>
            </a:r>
            <a:endParaRPr lang="en-US" dirty="0">
              <a:solidFill>
                <a:schemeClr val="accent3"/>
              </a:solidFill>
            </a:endParaRPr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Different shape rankings among cities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Distribution of shapes not tied to a single region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sz="16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5011" y="884518"/>
            <a:ext cx="4710499" cy="3777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#3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09" b="3857"/>
          <a:stretch>
            <a:fillRect/>
          </a:stretch>
        </p:blipFill>
        <p:spPr bwMode="auto">
          <a:xfrm>
            <a:off x="4750342" y="846810"/>
            <a:ext cx="3963936" cy="3852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43209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24-Hour Patterns for Top 5 Shapes</a:t>
            </a:r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shapes behave differently across hours: ”light" has largest difference between night and afternoon, “circle” and ”triangle” remain flat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#4</a:t>
            </a:r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74" r="-244"/>
          <a:stretch>
            <a:fillRect/>
          </a:stretch>
        </p:blipFill>
        <p:spPr bwMode="auto">
          <a:xfrm>
            <a:off x="4769565" y="761094"/>
            <a:ext cx="4123424" cy="400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3963937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Composition by Time of Day</a:t>
            </a:r>
            <a:endParaRPr lang="en-US" dirty="0">
              <a:solidFill>
                <a:schemeClr val="accent3"/>
              </a:solidFill>
            </a:endParaRPr>
          </a:p>
          <a:p>
            <a:endParaRPr lang="en-US" sz="1400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Confirms nighttime dominates reporting for all shapes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Shows unequal distribution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Justifies including </a:t>
            </a:r>
            <a:r>
              <a:rPr lang="en-US" sz="1400" dirty="0" err="1"/>
              <a:t>time_of_day</a:t>
            </a:r>
            <a:r>
              <a:rPr lang="en-US" sz="1400" dirty="0"/>
              <a:t> as a categorical feature since it shifts shape probabilities differently</a:t>
            </a:r>
            <a:endParaRPr lang="en-US"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#5</a:t>
            </a:r>
            <a:endParaRPr lang="en-US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103" y="2112140"/>
            <a:ext cx="4451075" cy="2652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6209"/>
            <a:ext cx="4717591" cy="2439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51011" y="884518"/>
            <a:ext cx="6713889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Duration vs Shape Analysis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/>
              <a:t>Boxplot showing median duration per shape; bar chart showing mean duration</a:t>
            </a:r>
            <a:endParaRPr lang="en-US" sz="1600" dirty="0"/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Duration (seconds) has predictive signal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Suggesting certain shapes are associated with longer/shorter sightings</a:t>
            </a:r>
            <a:endParaRPr lang="en-US" sz="14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Baseline Models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8" name="TextBox 4"/>
          <p:cNvSpPr txBox="1"/>
          <p:nvPr/>
        </p:nvSpPr>
        <p:spPr>
          <a:xfrm>
            <a:off x="250825" y="884555"/>
            <a:ext cx="374713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solidFill>
                  <a:schemeClr val="accent3"/>
                </a:solidFill>
              </a:rPr>
              <a:t>Two Baseline Models</a:t>
            </a:r>
            <a:endParaRPr lang="en-US" dirty="0">
              <a:solidFill>
                <a:schemeClr val="accent3"/>
              </a:solidFill>
            </a:endParaRPr>
          </a:p>
          <a:p>
            <a:pPr algn="l"/>
            <a:r>
              <a:rPr lang="en-US" altLang="zh-CN" sz="1600" dirty="0"/>
              <a:t>Baseline 1: Majority-class model</a:t>
            </a:r>
            <a:endParaRPr lang="en-US" altLang="zh-CN" sz="1600" dirty="0"/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ym typeface="+mn-ea"/>
              </a:rPr>
              <a:t>Always predicts the most frequent shape (“light”)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4558851" y="1146138"/>
            <a:ext cx="3902075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/>
              <a:t>Baseline 2: Multinomial Logistic Regression</a:t>
            </a:r>
            <a:endParaRPr lang="en-US" altLang="zh-CN" sz="1600" dirty="0"/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olidFill>
                  <a:schemeClr val="accent5"/>
                </a:solidFill>
              </a:rPr>
              <a:t>Linear classifier on all engineered features</a:t>
            </a:r>
            <a:endParaRPr lang="en-US" altLang="zh-CN" sz="1600" dirty="0">
              <a:solidFill>
                <a:schemeClr val="accent5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825" y="2696210"/>
            <a:ext cx="3935095" cy="5549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2413000"/>
            <a:ext cx="303720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Modeling Pt.2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1011" y="884518"/>
            <a:ext cx="3963937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Nonlinear Models &amp; Imbalance Handling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altLang="zh-CN" sz="1400" dirty="0"/>
              <a:t>4 Models evaluated: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Random Forests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AdaBoost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XGBoost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SVM(RBF)</a:t>
            </a:r>
            <a:endParaRPr lang="en-US" altLang="zh-CN" sz="1400" dirty="0"/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Two imbalance strategies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>
                <a:sym typeface="+mn-ea"/>
              </a:rPr>
              <a:t>Original train set + class or sample weights</a:t>
            </a:r>
            <a:endParaRPr lang="en-US" altLang="zh-CN" sz="1400" dirty="0">
              <a:sym typeface="+mn-ea"/>
            </a:endParaRP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SMOTE-balanced train set, no weights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400" dirty="0"/>
              <a:t>Hyperparameter Tuning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RandomizedSearchCV</a:t>
            </a:r>
            <a:endParaRPr lang="en-US" altLang="zh-CN" sz="1400" dirty="0"/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3967480" y="1322705"/>
          <a:ext cx="5086350" cy="252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70"/>
                <a:gridCol w="1017270"/>
                <a:gridCol w="1017270"/>
                <a:gridCol w="1017270"/>
                <a:gridCol w="1017270"/>
              </a:tblGrid>
              <a:tr h="3606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Acc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Acc (SMOTE)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(SMOTE)</a:t>
                      </a:r>
                      <a:endParaRPr lang="zh-CN" altLang="en-US" sz="14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Majority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LogReg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RF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12.9%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12.7%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AdaBoost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12.6%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0.112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XG</a:t>
                      </a:r>
                      <a:r>
                        <a:rPr lang="en-US" altLang="zh-CN" sz="1600"/>
                        <a:t>Boost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7.2%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16.4%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SVM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4.1%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0.044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4.4%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0.052</a:t>
                      </a:r>
                      <a:endParaRPr lang="en-US" altLang="zh-CN" sz="16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Overfitting &amp; Effect of SMOTE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5509260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Overfitting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altLang="zh-CN" sz="1400" dirty="0"/>
              <a:t>Good Training Result: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RF (SMOTE):</a:t>
            </a:r>
            <a:r>
              <a:rPr lang="en-US" altLang="zh-CN" sz="1400" b="1" dirty="0"/>
              <a:t> 94.7% train accuracy,  0.95 macro F1</a:t>
            </a:r>
            <a:endParaRPr lang="en-US" sz="1400" b="1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AdaBoost (SMOTE): </a:t>
            </a:r>
            <a:r>
              <a:rPr lang="en-US" altLang="zh-CN" sz="1400" b="1" dirty="0"/>
              <a:t>97.4% train accuracy,  0.97 </a:t>
            </a:r>
            <a:r>
              <a:rPr lang="en-US" altLang="zh-CN" sz="1400" b="1" dirty="0">
                <a:sym typeface="+mn-ea"/>
              </a:rPr>
              <a:t>macro F1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sz="1400" dirty="0"/>
              <a:t>Weak Generalization to Test Set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Only </a:t>
            </a:r>
            <a:r>
              <a:rPr lang="en-US" altLang="zh-CN" sz="1400" b="1" dirty="0"/>
              <a:t>7–16%</a:t>
            </a:r>
            <a:r>
              <a:rPr lang="en-US" altLang="zh-CN" sz="1400" dirty="0"/>
              <a:t> accuracy across all models</a:t>
            </a:r>
            <a:endParaRPr lang="en-US" altLang="zh-CN" sz="1400" dirty="0"/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Imbalance handling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Class / sample weights: improve training metrics, small gains on test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SMOTE: makes training easier, slightly improves XGBoost, but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Still below majority baseline accuracy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very hard to predict</a:t>
            </a:r>
            <a:endParaRPr lang="en-US" altLang="zh-CN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Conclusion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8183880" cy="3014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3"/>
                </a:solidFill>
              </a:rPr>
              <a:t>Main Takeaways</a:t>
            </a:r>
            <a:endParaRPr lang="en-US" altLang="zh-CN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Linear baselines + current features ≈ majority classifier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Nonlinear ensembles + imbalance tricks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High training F1, but </a:t>
            </a:r>
            <a:r>
              <a:rPr lang="en-US" altLang="zh-CN" sz="1400" b="1" dirty="0"/>
              <a:t>test accuracy &lt; 21% baseline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difficult to predict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Main bottleneck: limited signal in current features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800" dirty="0">
                <a:solidFill>
                  <a:schemeClr val="accent3"/>
                </a:solidFill>
                <a:sym typeface="+mn-ea"/>
              </a:rPr>
              <a:t>Future Works</a:t>
            </a:r>
            <a:endParaRPr lang="en-US" altLang="zh-CN" sz="1800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Incorporating additional datasets covering other relevant factors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Adding textual descriptions as a new feature and apply NLP techniques.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sym typeface="+mn-ea"/>
              </a:rPr>
              <a:t>Neural networks for richer nonlinear representations.</a:t>
            </a:r>
            <a:endParaRPr lang="en-US" altLang="zh-CN" sz="1400" dirty="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sym typeface="+mn-ea"/>
              </a:rPr>
              <a:t>If problem still exists, another potential cause could be the UFO shapes are impacted by actual </a:t>
            </a:r>
            <a:r>
              <a:rPr lang="en-US" altLang="zh-CN" sz="1400" dirty="0"/>
              <a:t>aerial anomalies.</a:t>
            </a:r>
            <a:endParaRPr lang="en-US" altLang="zh-CN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Details of the contributions (3-4 slides)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Explain the high-level idea of the paper</a:t>
            </a:r>
            <a:endParaRPr lang="en-US" dirty="0"/>
          </a:p>
          <a:p>
            <a:pPr lvl="1"/>
            <a:r>
              <a:rPr lang="en-US" dirty="0"/>
              <a:t>preferably using an overview image, if relevant</a:t>
            </a:r>
            <a:endParaRPr lang="en-US" dirty="0"/>
          </a:p>
          <a:p>
            <a:r>
              <a:rPr lang="en-US" dirty="0"/>
              <a:t>Identify and clearly explain the assumptions made</a:t>
            </a:r>
            <a:endParaRPr lang="en-US" dirty="0"/>
          </a:p>
          <a:p>
            <a:r>
              <a:rPr lang="en-US" dirty="0"/>
              <a:t>Present the details of the proposed approaches, including important mathematical details.</a:t>
            </a:r>
            <a:endParaRPr lang="en-US" dirty="0"/>
          </a:p>
          <a:p>
            <a:pPr lvl="1"/>
            <a:r>
              <a:rPr lang="en-US" dirty="0"/>
              <a:t>If there are parts of the model that already existed, point it out clearly to isolate the contributions of this work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Results and Analysis (2-3 slides)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does the paper argue for the claimed contributions</a:t>
            </a:r>
            <a:endParaRPr lang="en-US" dirty="0"/>
          </a:p>
          <a:p>
            <a:pPr lvl="1"/>
            <a:r>
              <a:rPr lang="en-US" dirty="0"/>
              <a:t>Typically these will be the experiments conducted to test the hypothesis; in some cases these can be mathematical proofs; or in rare cases it will be only arguments and examples.</a:t>
            </a:r>
            <a:endParaRPr lang="en-US" dirty="0"/>
          </a:p>
          <a:p>
            <a:pPr lvl="1"/>
            <a:r>
              <a:rPr lang="en-US" dirty="0"/>
              <a:t>Focus on the key experiments/arguments (not necessarily all)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Clearly define the experimental setup, datasets used, evaluation methodology</a:t>
            </a:r>
            <a:endParaRPr lang="en-US" dirty="0"/>
          </a:p>
          <a:p>
            <a:endParaRPr lang="en-US" dirty="0"/>
          </a:p>
          <a:p>
            <a:r>
              <a:rPr lang="en-US" dirty="0"/>
              <a:t>Analyze the results presented in the paper, and present only data-points that convey some information.</a:t>
            </a:r>
            <a:endParaRPr lang="en-US" dirty="0"/>
          </a:p>
          <a:p>
            <a:pPr lvl="1"/>
            <a:r>
              <a:rPr lang="en-US" dirty="0"/>
              <a:t>Do not blindly copy/screenshot tables from the papers. Make your own tables/plots (A template is at the end of this slide deck)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Analysis of the outputs – If there is analysis provided for outputs, example predictions (if present), etc.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0"/>
            <a:ext cx="8229600" cy="693605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Conclusions, Shortcomings and Future Work (2-3 slides)</a:t>
            </a:r>
            <a:endParaRPr lang="en-US" sz="2800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What have </a:t>
            </a:r>
            <a:r>
              <a:rPr lang="en-US" b="1" dirty="0"/>
              <a:t>you</a:t>
            </a:r>
            <a:r>
              <a:rPr lang="en-US" dirty="0"/>
              <a:t> learned from this paper?</a:t>
            </a:r>
            <a:endParaRPr lang="en-US" dirty="0"/>
          </a:p>
          <a:p>
            <a:pPr lvl="1"/>
            <a:r>
              <a:rPr lang="en-US" dirty="0"/>
              <a:t>What are the important lessons that this work leaves for the community</a:t>
            </a:r>
            <a:endParaRPr lang="en-US" dirty="0"/>
          </a:p>
          <a:p>
            <a:pPr lvl="1"/>
            <a:r>
              <a:rPr lang="en-US" dirty="0"/>
              <a:t>Are there any resources, </a:t>
            </a:r>
            <a:r>
              <a:rPr lang="en-US" dirty="0" err="1"/>
              <a:t>eg</a:t>
            </a:r>
            <a:r>
              <a:rPr lang="en-US" dirty="0"/>
              <a:t>. Code, Datasets, Evaluation Metrics, etc. that are used / can be used for future research</a:t>
            </a:r>
            <a:endParaRPr lang="en-US" dirty="0"/>
          </a:p>
          <a:p>
            <a:r>
              <a:rPr lang="en-US" dirty="0"/>
              <a:t>What are the major shortcomings of the paper</a:t>
            </a:r>
            <a:endParaRPr lang="en-US" dirty="0"/>
          </a:p>
          <a:p>
            <a:pPr lvl="1"/>
            <a:r>
              <a:rPr lang="en-US" dirty="0"/>
              <a:t>It is usually easy to criticize papers, but coming up with solutions for criticism is difficult – Try to come up with possible solutions and discuss</a:t>
            </a:r>
            <a:endParaRPr lang="en-US" dirty="0"/>
          </a:p>
          <a:p>
            <a:r>
              <a:rPr lang="en-US" dirty="0"/>
              <a:t>How can this work be improved/extended?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Slide</a:t>
            </a:r>
            <a:endParaRPr lang="en-US" dirty="0"/>
          </a:p>
        </p:txBody>
      </p:sp>
      <p:graphicFrame>
        <p:nvGraphicFramePr>
          <p:cNvPr id="6" name="Content Placeholder 6"/>
          <p:cNvGraphicFramePr>
            <a:graphicFrameLocks noGrp="1"/>
          </p:cNvGraphicFramePr>
          <p:nvPr>
            <p:ph idx="1"/>
          </p:nvPr>
        </p:nvGraphicFramePr>
        <p:xfrm>
          <a:off x="430223" y="902494"/>
          <a:ext cx="8229599" cy="222504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850904"/>
                <a:gridCol w="1879019"/>
                <a:gridCol w="1632280"/>
                <a:gridCol w="1433698"/>
                <a:gridCol w="1433698"/>
              </a:tblGrid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1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Slide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585445" y="1006930"/>
          <a:ext cx="7246231" cy="3374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400*198"/>
  <p:tag name="TABLE_ENDDRAG_RECT" val="312*104*400*198"/>
</p:tagLst>
</file>

<file path=ppt/theme/theme1.xml><?xml version="1.0" encoding="utf-8"?>
<a:theme xmlns:a="http://schemas.openxmlformats.org/drawingml/2006/main" name="Office Theme">
  <a:themeElements>
    <a:clrScheme name="Custom 23">
      <a:dk1>
        <a:srgbClr val="00144D"/>
      </a:dk1>
      <a:lt1>
        <a:sysClr val="window" lastClr="FFFFFF"/>
      </a:lt1>
      <a:dk2>
        <a:srgbClr val="57000A"/>
      </a:dk2>
      <a:lt2>
        <a:srgbClr val="82AFD3"/>
      </a:lt2>
      <a:accent1>
        <a:srgbClr val="95001A"/>
      </a:accent1>
      <a:accent2>
        <a:srgbClr val="C0504D"/>
      </a:accent2>
      <a:accent3>
        <a:srgbClr val="045EA7"/>
      </a:accent3>
      <a:accent4>
        <a:srgbClr val="F2C100"/>
      </a:accent4>
      <a:accent5>
        <a:srgbClr val="00144D"/>
      </a:accent5>
      <a:accent6>
        <a:srgbClr val="44464B"/>
      </a:accent6>
      <a:hlink>
        <a:srgbClr val="00144D"/>
      </a:hlink>
      <a:folHlink>
        <a:srgbClr val="82AFD3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6268</Words>
  <Application>WPS 演示</Application>
  <PresentationFormat>On-screen Show (16:9)</PresentationFormat>
  <Paragraphs>407</Paragraphs>
  <Slides>22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3" baseType="lpstr">
      <vt:lpstr>Arial</vt:lpstr>
      <vt:lpstr>宋体</vt:lpstr>
      <vt:lpstr>Wingdings</vt:lpstr>
      <vt:lpstr>Gill Sans</vt:lpstr>
      <vt:lpstr>Gill Sans MT</vt:lpstr>
      <vt:lpstr>Arial</vt:lpstr>
      <vt:lpstr>Calibri</vt:lpstr>
      <vt:lpstr>微软雅黑</vt:lpstr>
      <vt:lpstr>Arial Unicode MS</vt:lpstr>
      <vt:lpstr>华文中宋</vt:lpstr>
      <vt:lpstr>Office Theme</vt:lpstr>
      <vt:lpstr>	   UFO Shape Prediction Project </vt:lpstr>
      <vt:lpstr>Objective</vt:lpstr>
      <vt:lpstr>Value Proposition</vt:lpstr>
      <vt:lpstr>Contents:</vt:lpstr>
      <vt:lpstr>Dataset Used 1st </vt:lpstr>
      <vt:lpstr>Dataset Used 2nd </vt:lpstr>
      <vt:lpstr>Dataset Used 3rd   </vt:lpstr>
      <vt:lpstr>Dataset Used 4th  </vt:lpstr>
      <vt:lpstr>EDA Insights #1</vt:lpstr>
      <vt:lpstr>EDA Insights #2</vt:lpstr>
      <vt:lpstr>EDA Insights #3</vt:lpstr>
      <vt:lpstr>EDA Insights #4</vt:lpstr>
      <vt:lpstr>EDA Insights #5</vt:lpstr>
      <vt:lpstr>Baseline Models</vt:lpstr>
      <vt:lpstr>Modeling Pt.2</vt:lpstr>
      <vt:lpstr>Overfitting &amp; Effect of SMOTE</vt:lpstr>
      <vt:lpstr>Conclusion</vt:lpstr>
      <vt:lpstr>Details of the contributions (3-4 slides)</vt:lpstr>
      <vt:lpstr>Results and Analysis (2-3 slides)</vt:lpstr>
      <vt:lpstr>Conclusions, Shortcomings and Future Work (2-3 slides)</vt:lpstr>
      <vt:lpstr>Table Slide</vt:lpstr>
      <vt:lpstr>Chart Slide</vt:lpstr>
    </vt:vector>
  </TitlesOfParts>
  <Company>Zder0to5ive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Lindsey Tabor</dc:creator>
  <cp:lastModifiedBy>Chinrosa</cp:lastModifiedBy>
  <cp:revision>204</cp:revision>
  <dcterms:created xsi:type="dcterms:W3CDTF">2017-09-22T15:37:00Z</dcterms:created>
  <dcterms:modified xsi:type="dcterms:W3CDTF">2025-12-08T21:52:27Z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9627E11120884247B42945190317EA05_12</vt:lpwstr>
  </property>
</Properties>
</file>