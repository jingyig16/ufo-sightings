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63" r:id="rId2"/>
    <p:sldId id="311" r:id="rId3"/>
    <p:sldId id="320" r:id="rId4"/>
    <p:sldId id="296" r:id="rId5"/>
    <p:sldId id="305" r:id="rId6"/>
    <p:sldId id="324" r:id="rId7"/>
    <p:sldId id="321" r:id="rId8"/>
    <p:sldId id="325" r:id="rId9"/>
    <p:sldId id="314" r:id="rId10"/>
    <p:sldId id="327" r:id="rId11"/>
    <p:sldId id="328" r:id="rId12"/>
    <p:sldId id="329" r:id="rId13"/>
    <p:sldId id="326" r:id="rId14"/>
    <p:sldId id="334" r:id="rId15"/>
    <p:sldId id="330" r:id="rId16"/>
    <p:sldId id="331" r:id="rId17"/>
    <p:sldId id="332" r:id="rId18"/>
    <p:sldId id="333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46" userDrawn="1">
          <p15:clr>
            <a:srgbClr val="A4A3A4"/>
          </p15:clr>
        </p15:guide>
        <p15:guide id="2" pos="28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3149"/>
    <a:srgbClr val="662D49"/>
    <a:srgbClr val="663749"/>
    <a:srgbClr val="6626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646" autoAdjust="0"/>
    <p:restoredTop sz="93151" autoAdjust="0"/>
  </p:normalViewPr>
  <p:slideViewPr>
    <p:cSldViewPr snapToGrid="0" snapToObjects="1" showGuides="1">
      <p:cViewPr varScale="1">
        <p:scale>
          <a:sx n="158" d="100"/>
          <a:sy n="158" d="100"/>
        </p:scale>
        <p:origin x="1432" y="200"/>
      </p:cViewPr>
      <p:guideLst>
        <p:guide orient="horz" pos="1646"/>
        <p:guide pos="28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5E162-9D79-2943-B0A3-211BF28B7513}" type="datetimeFigureOut">
              <a:rPr lang="en-US" smtClean="0"/>
              <a:t>12/8/25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22E400-0EC4-CD46-9C72-78BD5E9427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CBAB52-94AF-9448-9B1C-7768B1879D49}" type="datetimeFigureOut">
              <a:rPr lang="en-US" smtClean="0"/>
              <a:t>12/8/25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447283-AD3B-EE49-8B53-C7D74121EF4E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447283-AD3B-EE49-8B53-C7D74121EF4E}" type="slidenum">
              <a:rPr lang="en-US" smtClean="0"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447283-AD3B-EE49-8B53-C7D74121EF4E}" type="slidenum">
              <a:rPr lang="en-US" smtClean="0"/>
              <a:t>6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447283-AD3B-EE49-8B53-C7D74121EF4E}" type="slidenum">
              <a:rPr lang="en-US" smtClean="0"/>
              <a:t>7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6000" kern="1200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447283-AD3B-EE49-8B53-C7D74121EF4E}" type="slidenum">
              <a:rPr lang="en-US" smtClean="0"/>
              <a:t>11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447283-AD3B-EE49-8B53-C7D74121EF4E}" type="slidenum">
              <a:rPr lang="en-US" smtClean="0"/>
              <a:t>12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447283-AD3B-EE49-8B53-C7D74121EF4E}" type="slidenum">
              <a:rPr lang="en-US" smtClean="0"/>
              <a:t>15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-56445" y="5"/>
            <a:ext cx="9206200" cy="515143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4" name="Picture 13" descr="2-line-whitetext-colorshield.png"/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5599" y="4296762"/>
            <a:ext cx="1769927" cy="650138"/>
          </a:xfrm>
          <a:prstGeom prst="rect">
            <a:avLst/>
          </a:prstGeom>
        </p:spPr>
      </p:pic>
      <p:pic>
        <p:nvPicPr>
          <p:cNvPr id="13" name="Picture 12"/>
          <p:cNvPicPr/>
          <p:nvPr userDrawn="1"/>
        </p:nvPicPr>
        <p:blipFill>
          <a:blip r:embed="rId3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88" y="151675"/>
            <a:ext cx="3080816" cy="3457724"/>
          </a:xfrm>
          <a:prstGeom prst="rect">
            <a:avLst/>
          </a:prstGeom>
        </p:spPr>
      </p:pic>
      <p:sp>
        <p:nvSpPr>
          <p:cNvPr id="25" name="Title 1"/>
          <p:cNvSpPr>
            <a:spLocks noGrp="1"/>
          </p:cNvSpPr>
          <p:nvPr userDrawn="1">
            <p:ph type="ctrTitle"/>
          </p:nvPr>
        </p:nvSpPr>
        <p:spPr>
          <a:xfrm>
            <a:off x="958151" y="1073526"/>
            <a:ext cx="7397039" cy="1747125"/>
          </a:xfrm>
          <a:prstGeom prst="rect">
            <a:avLst/>
          </a:prstGeom>
        </p:spPr>
        <p:txBody>
          <a:bodyPr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6" name="Subtitle 2"/>
          <p:cNvSpPr>
            <a:spLocks noGrp="1"/>
          </p:cNvSpPr>
          <p:nvPr userDrawn="1">
            <p:ph type="subTitle" idx="1"/>
          </p:nvPr>
        </p:nvSpPr>
        <p:spPr>
          <a:xfrm>
            <a:off x="958151" y="3255792"/>
            <a:ext cx="7397039" cy="731520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34" name="Group 33"/>
          <p:cNvGrpSpPr/>
          <p:nvPr userDrawn="1"/>
        </p:nvGrpSpPr>
        <p:grpSpPr>
          <a:xfrm rot="10800000">
            <a:off x="0" y="3001092"/>
            <a:ext cx="8355526" cy="57487"/>
            <a:chOff x="685800" y="1794746"/>
            <a:chExt cx="7772400" cy="179475"/>
          </a:xfrm>
        </p:grpSpPr>
        <p:sp>
          <p:nvSpPr>
            <p:cNvPr id="35" name="Rectangle 34"/>
            <p:cNvSpPr/>
            <p:nvPr userDrawn="1"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/>
            <p:cNvSpPr/>
            <p:nvPr userDrawn="1"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37" name="Rectangle 36"/>
            <p:cNvSpPr/>
            <p:nvPr userDrawn="1"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2-line-bluetext-colorshield.png"/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57" b="-1906"/>
          <a:stretch>
            <a:fillRect/>
          </a:stretch>
        </p:blipFill>
        <p:spPr>
          <a:xfrm>
            <a:off x="6585599" y="4296761"/>
            <a:ext cx="1769927" cy="656963"/>
          </a:xfrm>
          <a:prstGeom prst="rect">
            <a:avLst/>
          </a:prstGeom>
        </p:spPr>
      </p:pic>
      <p:pic>
        <p:nvPicPr>
          <p:cNvPr id="14" name="Picture 13" descr="upennwatermark.pdf"/>
          <p:cNvPicPr/>
          <p:nvPr userDrawn="1"/>
        </p:nvPicPr>
        <p:blipFill>
          <a:blip r:embed="rId3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88" y="136510"/>
            <a:ext cx="3080816" cy="34728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8151" y="1073526"/>
            <a:ext cx="7397039" cy="1747125"/>
          </a:xfrm>
          <a:prstGeom prst="rect">
            <a:avLst/>
          </a:prstGeom>
        </p:spPr>
        <p:txBody>
          <a:bodyPr anchor="b"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58151" y="3255792"/>
            <a:ext cx="7397039" cy="658114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10" name="Group 9"/>
          <p:cNvGrpSpPr/>
          <p:nvPr userDrawn="1"/>
        </p:nvGrpSpPr>
        <p:grpSpPr>
          <a:xfrm rot="10800000">
            <a:off x="0" y="3001092"/>
            <a:ext cx="8355526" cy="57487"/>
            <a:chOff x="685800" y="1794746"/>
            <a:chExt cx="7772400" cy="179475"/>
          </a:xfrm>
        </p:grpSpPr>
        <p:sp>
          <p:nvSpPr>
            <p:cNvPr id="7" name="Rectangle 6"/>
            <p:cNvSpPr/>
            <p:nvPr userDrawn="1"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  <p:sp>
        <p:nvSpPr>
          <p:cNvPr id="6" name="Rectangle 5"/>
          <p:cNvSpPr/>
          <p:nvPr userDrawn="1"/>
        </p:nvSpPr>
        <p:spPr>
          <a:xfrm>
            <a:off x="254010" y="4572000"/>
            <a:ext cx="2243667" cy="57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698999"/>
            <a:ext cx="2133600" cy="273844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8A758EFE-665F-4341-B5B8-2DAEADA52F6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1"/>
          </p:nvPr>
        </p:nvSpPr>
        <p:spPr>
          <a:xfrm>
            <a:off x="430464" y="902369"/>
            <a:ext cx="8229600" cy="369079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22" name="Rectangle 21"/>
            <p:cNvSpPr/>
            <p:nvPr userDrawn="1"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4" name="Rectangle 23"/>
            <p:cNvSpPr/>
            <p:nvPr userDrawn="1"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9" y="0"/>
            <a:ext cx="9143999" cy="51435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698999"/>
            <a:ext cx="2133600" cy="273844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8A758EFE-665F-4341-B5B8-2DAEADA52F6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1"/>
          </p:nvPr>
        </p:nvSpPr>
        <p:spPr>
          <a:xfrm>
            <a:off x="430464" y="902369"/>
            <a:ext cx="8229600" cy="369079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22" name="Rectangle 21"/>
            <p:cNvSpPr/>
            <p:nvPr userDrawn="1"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4" name="Rectangle 23"/>
            <p:cNvSpPr/>
            <p:nvPr userDrawn="1"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  <p:pic>
        <p:nvPicPr>
          <p:cNvPr id="13" name="Picture 12" descr="1-line-bluetext-colorshield.png"/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699003"/>
            <a:ext cx="1809092" cy="34747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upennwatermark.pdf"/>
          <p:cNvPicPr/>
          <p:nvPr userDrawn="1"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88" y="105531"/>
            <a:ext cx="3336156" cy="37459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0464" y="902369"/>
            <a:ext cx="8229600" cy="369079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698999"/>
            <a:ext cx="2133600" cy="273844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8A758EFE-665F-4341-B5B8-2DAEADA52F6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12" name="Rectangle 11"/>
            <p:cNvSpPr/>
            <p:nvPr userDrawn="1"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3"/>
          </p:nvPr>
        </p:nvSpPr>
        <p:spPr>
          <a:xfrm>
            <a:off x="4811889" y="1066670"/>
            <a:ext cx="3874912" cy="35279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66669"/>
            <a:ext cx="4040188" cy="47982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698999"/>
            <a:ext cx="2133600" cy="273844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8A758EFE-665F-4341-B5B8-2DAEADA52F6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14" name="Rectangle 13"/>
            <p:cNvSpPr/>
            <p:nvPr userDrawn="1"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upennwatermark.pdf"/>
          <p:cNvPicPr>
            <a:picLocks noChangeAspect="1"/>
          </p:cNvPicPr>
          <p:nvPr userDrawn="1"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88" y="105531"/>
            <a:ext cx="3338896" cy="3749040"/>
          </a:xfrm>
          <a:prstGeom prst="rect">
            <a:avLst/>
          </a:prstGeom>
        </p:spPr>
      </p:pic>
      <p:sp>
        <p:nvSpPr>
          <p:cNvPr id="16" name="Picture Placeholder 2"/>
          <p:cNvSpPr>
            <a:spLocks noGrp="1"/>
          </p:cNvSpPr>
          <p:nvPr>
            <p:ph type="pic" idx="13"/>
          </p:nvPr>
        </p:nvSpPr>
        <p:spPr>
          <a:xfrm>
            <a:off x="4811889" y="1066670"/>
            <a:ext cx="3874912" cy="35279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66669"/>
            <a:ext cx="4040188" cy="47982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698999"/>
            <a:ext cx="2133600" cy="273844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8A758EFE-665F-4341-B5B8-2DAEADA52F6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14" name="Rectangle 13"/>
            <p:cNvSpPr/>
            <p:nvPr userDrawn="1"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04904"/>
            <a:ext cx="4038600" cy="348972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04902"/>
            <a:ext cx="4038600" cy="348972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698999"/>
            <a:ext cx="2133600" cy="273844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8A758EFE-665F-4341-B5B8-2DAEADA52F6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13" name="Rectangle 12"/>
            <p:cNvSpPr/>
            <p:nvPr userDrawn="1"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67992"/>
            <a:ext cx="4040188" cy="47982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546495"/>
            <a:ext cx="4040188" cy="304813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3" y="1066669"/>
            <a:ext cx="4041775" cy="47982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1546495"/>
            <a:ext cx="4041775" cy="304813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698999"/>
            <a:ext cx="2133600" cy="273844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8A758EFE-665F-4341-B5B8-2DAEADA52F6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14" name="Rectangle 13"/>
            <p:cNvSpPr/>
            <p:nvPr userDrawn="1"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1" name="Rectangle 20"/>
            <p:cNvSpPr/>
            <p:nvPr userDrawn="1"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42182" y="1782939"/>
            <a:ext cx="2544621" cy="479822"/>
          </a:xfrm>
        </p:spPr>
        <p:txBody>
          <a:bodyPr anchor="b">
            <a:noAutofit/>
          </a:bodyPr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42182" y="2310651"/>
            <a:ext cx="2544621" cy="2282515"/>
          </a:xfrm>
        </p:spPr>
        <p:txBody>
          <a:bodyPr>
            <a:normAutofit/>
          </a:bodyPr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90204"/>
              <a:buChar char="•"/>
              <a:defRPr sz="16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90204"/>
              <a:buChar char="•"/>
              <a:defRPr/>
            </a:pPr>
            <a:r>
              <a:rPr lang="en-US" dirty="0"/>
              <a:t>Click to edit Master text styles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90204"/>
              <a:buChar char="•"/>
              <a:defRPr/>
            </a:pPr>
            <a:r>
              <a:rPr lang="en-US" dirty="0"/>
              <a:t>Click to edit Master text styles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90204"/>
              <a:buChar char="•"/>
              <a:defRPr/>
            </a:pPr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698999"/>
            <a:ext cx="2133600" cy="273844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8A758EFE-665F-4341-B5B8-2DAEADA52F6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14" name="Rectangle 13"/>
            <p:cNvSpPr/>
            <p:nvPr userDrawn="1"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1" name="Rectangle 20"/>
            <p:cNvSpPr/>
            <p:nvPr userDrawn="1"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  <p:cxnSp>
        <p:nvCxnSpPr>
          <p:cNvPr id="23" name="Straight Connector 22"/>
          <p:cNvCxnSpPr/>
          <p:nvPr userDrawn="1"/>
        </p:nvCxnSpPr>
        <p:spPr>
          <a:xfrm>
            <a:off x="5908842" y="1099992"/>
            <a:ext cx="0" cy="3599013"/>
          </a:xfrm>
          <a:prstGeom prst="line">
            <a:avLst/>
          </a:prstGeom>
          <a:ln w="9525" cmpd="sng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5"/>
          <p:cNvSpPr>
            <a:spLocks noGrp="1"/>
          </p:cNvSpPr>
          <p:nvPr>
            <p:ph sz="quarter" idx="14"/>
          </p:nvPr>
        </p:nvSpPr>
        <p:spPr>
          <a:xfrm>
            <a:off x="310162" y="1485154"/>
            <a:ext cx="5294781" cy="323189"/>
          </a:xfrm>
        </p:spPr>
        <p:txBody>
          <a:bodyPr anchor="b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90204"/>
              <a:buNone/>
              <a:defRPr sz="1600" b="1">
                <a:solidFill>
                  <a:schemeClr val="accent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Content Placeholder 5"/>
          <p:cNvSpPr>
            <a:spLocks noGrp="1"/>
          </p:cNvSpPr>
          <p:nvPr>
            <p:ph sz="quarter" idx="15"/>
          </p:nvPr>
        </p:nvSpPr>
        <p:spPr>
          <a:xfrm>
            <a:off x="310162" y="1808344"/>
            <a:ext cx="5294781" cy="323189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90204"/>
              <a:buNone/>
              <a:defRPr sz="1400" b="0">
                <a:solidFill>
                  <a:schemeClr val="tx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26" name="Content Placeholder 5"/>
          <p:cNvSpPr>
            <a:spLocks noGrp="1"/>
          </p:cNvSpPr>
          <p:nvPr>
            <p:ph sz="quarter" idx="16"/>
          </p:nvPr>
        </p:nvSpPr>
        <p:spPr>
          <a:xfrm>
            <a:off x="310162" y="2353694"/>
            <a:ext cx="5294781" cy="323189"/>
          </a:xfrm>
        </p:spPr>
        <p:txBody>
          <a:bodyPr anchor="b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90204"/>
              <a:buNone/>
              <a:defRPr sz="1600" b="1">
                <a:solidFill>
                  <a:schemeClr val="accent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Content Placeholder 5"/>
          <p:cNvSpPr>
            <a:spLocks noGrp="1"/>
          </p:cNvSpPr>
          <p:nvPr>
            <p:ph sz="quarter" idx="17"/>
          </p:nvPr>
        </p:nvSpPr>
        <p:spPr>
          <a:xfrm>
            <a:off x="310162" y="2676884"/>
            <a:ext cx="5294781" cy="323189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90204"/>
              <a:buNone/>
              <a:defRPr sz="1400" b="0">
                <a:solidFill>
                  <a:schemeClr val="tx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28" name="Content Placeholder 5"/>
          <p:cNvSpPr>
            <a:spLocks noGrp="1"/>
          </p:cNvSpPr>
          <p:nvPr>
            <p:ph sz="quarter" idx="18"/>
          </p:nvPr>
        </p:nvSpPr>
        <p:spPr>
          <a:xfrm>
            <a:off x="310162" y="3191895"/>
            <a:ext cx="5294781" cy="323189"/>
          </a:xfrm>
        </p:spPr>
        <p:txBody>
          <a:bodyPr anchor="b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90204"/>
              <a:buNone/>
              <a:defRPr sz="1600" b="1">
                <a:solidFill>
                  <a:schemeClr val="accent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Content Placeholder 5"/>
          <p:cNvSpPr>
            <a:spLocks noGrp="1"/>
          </p:cNvSpPr>
          <p:nvPr>
            <p:ph sz="quarter" idx="19"/>
          </p:nvPr>
        </p:nvSpPr>
        <p:spPr>
          <a:xfrm>
            <a:off x="310162" y="3515084"/>
            <a:ext cx="5294781" cy="323189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90204"/>
              <a:buNone/>
              <a:defRPr sz="1400" b="0">
                <a:solidFill>
                  <a:schemeClr val="tx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0"/>
          </p:nvPr>
        </p:nvSpPr>
        <p:spPr>
          <a:xfrm>
            <a:off x="309033" y="965872"/>
            <a:ext cx="5295900" cy="419100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00144D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698999"/>
            <a:ext cx="2133600" cy="273844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8A758EFE-665F-4341-B5B8-2DAEADA52F6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14" name="Rectangle 13"/>
            <p:cNvSpPr/>
            <p:nvPr userDrawn="1"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1" name="Rectangle 20"/>
            <p:cNvSpPr/>
            <p:nvPr userDrawn="1"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  <p:sp>
        <p:nvSpPr>
          <p:cNvPr id="19" name="Rectangle 18"/>
          <p:cNvSpPr/>
          <p:nvPr/>
        </p:nvSpPr>
        <p:spPr>
          <a:xfrm>
            <a:off x="457210" y="1110136"/>
            <a:ext cx="2198255" cy="10297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accent1"/>
              </a:solidFill>
              <a:latin typeface="Gill Sans" panose="020B0502020104020203"/>
              <a:cs typeface="Gill Sans" panose="020B0502020104020203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457209" y="1110132"/>
            <a:ext cx="2198255" cy="4750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457198" y="2210973"/>
            <a:ext cx="3035300" cy="1029799"/>
            <a:chOff x="457198" y="2913323"/>
            <a:chExt cx="3035300" cy="1373065"/>
          </a:xfrm>
        </p:grpSpPr>
        <p:sp>
          <p:nvSpPr>
            <p:cNvPr id="31" name="Rectangle 30"/>
            <p:cNvSpPr/>
            <p:nvPr/>
          </p:nvSpPr>
          <p:spPr>
            <a:xfrm>
              <a:off x="457199" y="2913323"/>
              <a:ext cx="3035299" cy="13730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2"/>
                </a:solidFill>
                <a:latin typeface="Gill Sans" panose="020B0502020104020203"/>
                <a:cs typeface="Gill Sans" panose="020B0502020104020203"/>
              </a:endParaRPr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457198" y="2913323"/>
              <a:ext cx="3035300" cy="63343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33" name="Group 32"/>
          <p:cNvGrpSpPr/>
          <p:nvPr userDrawn="1"/>
        </p:nvGrpSpPr>
        <p:grpSpPr>
          <a:xfrm>
            <a:off x="457199" y="3303510"/>
            <a:ext cx="8181976" cy="1029799"/>
            <a:chOff x="457199" y="4370039"/>
            <a:chExt cx="8181976" cy="1373065"/>
          </a:xfrm>
        </p:grpSpPr>
        <p:sp>
          <p:nvSpPr>
            <p:cNvPr id="34" name="Rectangle 33"/>
            <p:cNvSpPr/>
            <p:nvPr/>
          </p:nvSpPr>
          <p:spPr>
            <a:xfrm>
              <a:off x="457199" y="4370039"/>
              <a:ext cx="8181976" cy="13730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bg2"/>
                </a:solidFill>
                <a:latin typeface="Gill Sans" panose="020B0502020104020203"/>
                <a:cs typeface="Gill Sans" panose="020B0502020104020203"/>
              </a:endParaRPr>
            </a:p>
          </p:txBody>
        </p:sp>
        <p:sp>
          <p:nvSpPr>
            <p:cNvPr id="35" name="Rectangle 34"/>
            <p:cNvSpPr/>
            <p:nvPr userDrawn="1"/>
          </p:nvSpPr>
          <p:spPr>
            <a:xfrm>
              <a:off x="457199" y="4370039"/>
              <a:ext cx="8181975" cy="6334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36" name="Group 35"/>
          <p:cNvGrpSpPr/>
          <p:nvPr userDrawn="1"/>
        </p:nvGrpSpPr>
        <p:grpSpPr>
          <a:xfrm>
            <a:off x="2746375" y="1110136"/>
            <a:ext cx="2762250" cy="1029799"/>
            <a:chOff x="2746375" y="1480176"/>
            <a:chExt cx="2762250" cy="1373065"/>
          </a:xfrm>
        </p:grpSpPr>
        <p:sp>
          <p:nvSpPr>
            <p:cNvPr id="37" name="Rectangle 36"/>
            <p:cNvSpPr/>
            <p:nvPr/>
          </p:nvSpPr>
          <p:spPr>
            <a:xfrm>
              <a:off x="2746375" y="1480176"/>
              <a:ext cx="2762250" cy="13730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accent1"/>
                </a:solidFill>
                <a:latin typeface="Gill Sans" panose="020B0502020104020203"/>
                <a:cs typeface="Gill Sans" panose="020B0502020104020203"/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746375" y="1480176"/>
              <a:ext cx="2762250" cy="633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39" name="Group 38"/>
          <p:cNvGrpSpPr/>
          <p:nvPr userDrawn="1"/>
        </p:nvGrpSpPr>
        <p:grpSpPr>
          <a:xfrm>
            <a:off x="5611092" y="1110136"/>
            <a:ext cx="3028082" cy="1029799"/>
            <a:chOff x="5556249" y="1480176"/>
            <a:chExt cx="3082926" cy="1373065"/>
          </a:xfrm>
        </p:grpSpPr>
        <p:sp>
          <p:nvSpPr>
            <p:cNvPr id="40" name="Rectangle 39"/>
            <p:cNvSpPr/>
            <p:nvPr/>
          </p:nvSpPr>
          <p:spPr>
            <a:xfrm>
              <a:off x="5556250" y="1480176"/>
              <a:ext cx="3082925" cy="13730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accent1"/>
                </a:solidFill>
                <a:latin typeface="Gill Sans" panose="020B0502020104020203"/>
                <a:cs typeface="Gill Sans" panose="020B0502020104020203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5556249" y="1480176"/>
              <a:ext cx="3082925" cy="633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42" name="Group 41"/>
          <p:cNvGrpSpPr/>
          <p:nvPr userDrawn="1"/>
        </p:nvGrpSpPr>
        <p:grpSpPr>
          <a:xfrm>
            <a:off x="3582730" y="2210973"/>
            <a:ext cx="5056446" cy="1029799"/>
            <a:chOff x="3556000" y="2913323"/>
            <a:chExt cx="5083175" cy="1373065"/>
          </a:xfrm>
        </p:grpSpPr>
        <p:sp>
          <p:nvSpPr>
            <p:cNvPr id="43" name="Rectangle 42"/>
            <p:cNvSpPr/>
            <p:nvPr/>
          </p:nvSpPr>
          <p:spPr>
            <a:xfrm>
              <a:off x="3556000" y="2913323"/>
              <a:ext cx="5083175" cy="13730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2"/>
                </a:solidFill>
                <a:latin typeface="Gill Sans" panose="020B0502020104020203"/>
                <a:cs typeface="Gill Sans" panose="020B0502020104020203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3556000" y="2913323"/>
              <a:ext cx="5083174" cy="63343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2"/>
                </a:solidFill>
              </a:endParaRPr>
            </a:p>
          </p:txBody>
        </p:sp>
      </p:grpSp>
      <p:sp>
        <p:nvSpPr>
          <p:cNvPr id="24" name="Content Placeholder 5"/>
          <p:cNvSpPr>
            <a:spLocks noGrp="1"/>
          </p:cNvSpPr>
          <p:nvPr>
            <p:ph sz="quarter" idx="14" hasCustomPrompt="1"/>
          </p:nvPr>
        </p:nvSpPr>
        <p:spPr>
          <a:xfrm>
            <a:off x="457201" y="1197944"/>
            <a:ext cx="2198254" cy="577231"/>
          </a:xfrm>
        </p:spPr>
        <p:txBody>
          <a:bodyPr anchor="b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90204"/>
              <a:buNone/>
              <a:defRPr sz="4000" b="1">
                <a:solidFill>
                  <a:schemeClr val="accent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25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457210" y="1775180"/>
            <a:ext cx="2198255" cy="323189"/>
          </a:xfrm>
        </p:spPr>
        <p:txBody>
          <a:bodyPr>
            <a:norm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90204"/>
              <a:buNone/>
              <a:defRPr sz="2400" b="0">
                <a:solidFill>
                  <a:schemeClr val="accent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5" name="Content Placeholder 5"/>
          <p:cNvSpPr>
            <a:spLocks noGrp="1"/>
          </p:cNvSpPr>
          <p:nvPr>
            <p:ph sz="quarter" idx="21" hasCustomPrompt="1"/>
          </p:nvPr>
        </p:nvSpPr>
        <p:spPr>
          <a:xfrm>
            <a:off x="2746376" y="1197944"/>
            <a:ext cx="2762250" cy="577231"/>
          </a:xfrm>
        </p:spPr>
        <p:txBody>
          <a:bodyPr anchor="b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90204"/>
              <a:buNone/>
              <a:defRPr sz="4000" b="1">
                <a:solidFill>
                  <a:schemeClr val="accent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46" name="Content Placeholder 5"/>
          <p:cNvSpPr>
            <a:spLocks noGrp="1"/>
          </p:cNvSpPr>
          <p:nvPr>
            <p:ph sz="quarter" idx="22" hasCustomPrompt="1"/>
          </p:nvPr>
        </p:nvSpPr>
        <p:spPr>
          <a:xfrm>
            <a:off x="2746378" y="1775180"/>
            <a:ext cx="2762251" cy="323189"/>
          </a:xfrm>
        </p:spPr>
        <p:txBody>
          <a:bodyPr>
            <a:norm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90204"/>
              <a:buNone/>
              <a:defRPr sz="2400" b="0">
                <a:solidFill>
                  <a:schemeClr val="accent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7" name="Content Placeholder 5"/>
          <p:cNvSpPr>
            <a:spLocks noGrp="1"/>
          </p:cNvSpPr>
          <p:nvPr>
            <p:ph sz="quarter" idx="23" hasCustomPrompt="1"/>
          </p:nvPr>
        </p:nvSpPr>
        <p:spPr>
          <a:xfrm>
            <a:off x="5611093" y="1197944"/>
            <a:ext cx="3028080" cy="577231"/>
          </a:xfrm>
        </p:spPr>
        <p:txBody>
          <a:bodyPr anchor="b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90204"/>
              <a:buNone/>
              <a:defRPr sz="4000" b="1">
                <a:solidFill>
                  <a:schemeClr val="accent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48" name="Content Placeholder 5"/>
          <p:cNvSpPr>
            <a:spLocks noGrp="1"/>
          </p:cNvSpPr>
          <p:nvPr>
            <p:ph sz="quarter" idx="24" hasCustomPrompt="1"/>
          </p:nvPr>
        </p:nvSpPr>
        <p:spPr>
          <a:xfrm>
            <a:off x="5611099" y="1775180"/>
            <a:ext cx="3028081" cy="323189"/>
          </a:xfrm>
        </p:spPr>
        <p:txBody>
          <a:bodyPr>
            <a:norm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90204"/>
              <a:buNone/>
              <a:defRPr sz="2400" b="0">
                <a:solidFill>
                  <a:schemeClr val="accent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9" name="Content Placeholder 5"/>
          <p:cNvSpPr>
            <a:spLocks noGrp="1"/>
          </p:cNvSpPr>
          <p:nvPr>
            <p:ph sz="quarter" idx="25" hasCustomPrompt="1"/>
          </p:nvPr>
        </p:nvSpPr>
        <p:spPr>
          <a:xfrm>
            <a:off x="3582731" y="2283875"/>
            <a:ext cx="5056442" cy="577231"/>
          </a:xfrm>
        </p:spPr>
        <p:txBody>
          <a:bodyPr anchor="b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90204"/>
              <a:buNone/>
              <a:defRPr sz="4000" b="1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50" name="Content Placeholder 5"/>
          <p:cNvSpPr>
            <a:spLocks noGrp="1"/>
          </p:cNvSpPr>
          <p:nvPr>
            <p:ph sz="quarter" idx="26" hasCustomPrompt="1"/>
          </p:nvPr>
        </p:nvSpPr>
        <p:spPr>
          <a:xfrm>
            <a:off x="3582730" y="2861109"/>
            <a:ext cx="5056446" cy="323189"/>
          </a:xfrm>
        </p:spPr>
        <p:txBody>
          <a:bodyPr>
            <a:norm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90204"/>
              <a:buNone/>
              <a:defRPr sz="2400" b="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1" name="Content Placeholder 5"/>
          <p:cNvSpPr>
            <a:spLocks noGrp="1"/>
          </p:cNvSpPr>
          <p:nvPr>
            <p:ph sz="quarter" idx="27" hasCustomPrompt="1"/>
          </p:nvPr>
        </p:nvSpPr>
        <p:spPr>
          <a:xfrm>
            <a:off x="457200" y="2283875"/>
            <a:ext cx="3035298" cy="577231"/>
          </a:xfrm>
        </p:spPr>
        <p:txBody>
          <a:bodyPr anchor="b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90204"/>
              <a:buNone/>
              <a:defRPr sz="4000" b="1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52" name="Content Placeholder 5"/>
          <p:cNvSpPr>
            <a:spLocks noGrp="1"/>
          </p:cNvSpPr>
          <p:nvPr>
            <p:ph sz="quarter" idx="28" hasCustomPrompt="1"/>
          </p:nvPr>
        </p:nvSpPr>
        <p:spPr>
          <a:xfrm>
            <a:off x="457206" y="2861109"/>
            <a:ext cx="3035299" cy="323189"/>
          </a:xfrm>
        </p:spPr>
        <p:txBody>
          <a:bodyPr>
            <a:norm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90204"/>
              <a:buNone/>
              <a:defRPr sz="2400" b="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3" name="Content Placeholder 5"/>
          <p:cNvSpPr>
            <a:spLocks noGrp="1"/>
          </p:cNvSpPr>
          <p:nvPr>
            <p:ph sz="quarter" idx="29" hasCustomPrompt="1"/>
          </p:nvPr>
        </p:nvSpPr>
        <p:spPr>
          <a:xfrm>
            <a:off x="457201" y="3385708"/>
            <a:ext cx="8181972" cy="577231"/>
          </a:xfrm>
        </p:spPr>
        <p:txBody>
          <a:bodyPr anchor="b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90204"/>
              <a:buNone/>
              <a:defRPr sz="4000" b="1">
                <a:solidFill>
                  <a:schemeClr val="bg2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54" name="Content Placeholder 5"/>
          <p:cNvSpPr>
            <a:spLocks noGrp="1"/>
          </p:cNvSpPr>
          <p:nvPr>
            <p:ph sz="quarter" idx="30" hasCustomPrompt="1"/>
          </p:nvPr>
        </p:nvSpPr>
        <p:spPr>
          <a:xfrm>
            <a:off x="457197" y="3962944"/>
            <a:ext cx="8181980" cy="323189"/>
          </a:xfrm>
        </p:spPr>
        <p:txBody>
          <a:bodyPr>
            <a:norm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90204"/>
              <a:buNone/>
              <a:defRPr sz="2400" b="0">
                <a:solidFill>
                  <a:schemeClr val="bg2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698999"/>
            <a:ext cx="2133600" cy="273844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8A758EFE-665F-4341-B5B8-2DAEADA52F6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10" name="Rectangle 9"/>
            <p:cNvSpPr/>
            <p:nvPr userDrawn="1"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  <p:sp>
        <p:nvSpPr>
          <p:cNvPr id="1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04904"/>
            <a:ext cx="8082552" cy="348972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698999"/>
            <a:ext cx="2133600" cy="273844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8A758EFE-665F-4341-B5B8-2DAEADA52F6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nn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Oval 39"/>
          <p:cNvSpPr/>
          <p:nvPr userDrawn="1"/>
        </p:nvSpPr>
        <p:spPr>
          <a:xfrm>
            <a:off x="1602040" y="1009064"/>
            <a:ext cx="3742766" cy="374103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1" name="Oval 40"/>
          <p:cNvSpPr/>
          <p:nvPr userDrawn="1"/>
        </p:nvSpPr>
        <p:spPr>
          <a:xfrm>
            <a:off x="3764025" y="997539"/>
            <a:ext cx="3742766" cy="3742764"/>
          </a:xfrm>
          <a:prstGeom prst="ellipse">
            <a:avLst/>
          </a:prstGeom>
          <a:solidFill>
            <a:schemeClr val="accent3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698999"/>
            <a:ext cx="2133600" cy="273844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8A758EFE-665F-4341-B5B8-2DAEADA52F6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22280" y="2589950"/>
            <a:ext cx="1947510" cy="652254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17" name="Rectangle 16"/>
            <p:cNvSpPr/>
            <p:nvPr userDrawn="1"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  <p:sp>
        <p:nvSpPr>
          <p:cNvPr id="23" name="Text Placeholder 22"/>
          <p:cNvSpPr>
            <a:spLocks noGrp="1"/>
          </p:cNvSpPr>
          <p:nvPr>
            <p:ph type="body" sz="quarter" idx="13"/>
          </p:nvPr>
        </p:nvSpPr>
        <p:spPr>
          <a:xfrm>
            <a:off x="310162" y="0"/>
            <a:ext cx="7986713" cy="708422"/>
          </a:xfrm>
        </p:spPr>
        <p:txBody>
          <a:bodyPr anchor="ctr">
            <a:normAutofit/>
          </a:bodyPr>
          <a:lstStyle>
            <a:lvl1pPr marL="0" indent="0">
              <a:buNone/>
              <a:defRPr sz="36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4" hasCustomPrompt="1"/>
          </p:nvPr>
        </p:nvSpPr>
        <p:spPr>
          <a:xfrm>
            <a:off x="3569790" y="2589610"/>
            <a:ext cx="1968500" cy="652462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5" hasCustomPrompt="1"/>
          </p:nvPr>
        </p:nvSpPr>
        <p:spPr>
          <a:xfrm>
            <a:off x="5538290" y="2589610"/>
            <a:ext cx="1968500" cy="652462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239899" y="4582584"/>
            <a:ext cx="2229555" cy="3902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5075" y="0"/>
            <a:ext cx="9186334" cy="4185826"/>
          </a:xfrm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-42334" y="4233334"/>
            <a:ext cx="9242778" cy="916571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5844" y="4471120"/>
            <a:ext cx="5813600" cy="455768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698999"/>
            <a:ext cx="21336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A758EFE-665F-4341-B5B8-2DAEADA52F6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-42334" y="4185826"/>
            <a:ext cx="9203267" cy="47507"/>
            <a:chOff x="685800" y="1794746"/>
            <a:chExt cx="7772400" cy="179475"/>
          </a:xfrm>
        </p:grpSpPr>
        <p:sp>
          <p:nvSpPr>
            <p:cNvPr id="13" name="Rectangle 12"/>
            <p:cNvSpPr/>
            <p:nvPr userDrawn="1"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312469" y="4593469"/>
            <a:ext cx="2229555" cy="5282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4817" y="0"/>
            <a:ext cx="9186334" cy="4185826"/>
          </a:xfrm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5844" y="4471120"/>
            <a:ext cx="5813600" cy="455768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accent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698999"/>
            <a:ext cx="2133600" cy="273844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8A758EFE-665F-4341-B5B8-2DAEADA52F6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-42334" y="4185826"/>
            <a:ext cx="9203267" cy="47507"/>
            <a:chOff x="685800" y="1794746"/>
            <a:chExt cx="7772400" cy="179475"/>
          </a:xfrm>
        </p:grpSpPr>
        <p:sp>
          <p:nvSpPr>
            <p:cNvPr id="22" name="Rectangle 21"/>
            <p:cNvSpPr/>
            <p:nvPr userDrawn="1"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4" name="Rectangle 23"/>
            <p:cNvSpPr/>
            <p:nvPr userDrawn="1"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363798" y="4553643"/>
            <a:ext cx="2229555" cy="5898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25400" y="1011586"/>
            <a:ext cx="9186334" cy="4138319"/>
          </a:xfrm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-21167" y="-3292"/>
            <a:ext cx="9178768" cy="96737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5844" y="231435"/>
            <a:ext cx="8220956" cy="455768"/>
          </a:xfrm>
        </p:spPr>
        <p:txBody>
          <a:bodyPr anchor="ctr"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698999"/>
            <a:ext cx="2133600" cy="273844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8A758EFE-665F-4341-B5B8-2DAEADA52F6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-21168" y="964078"/>
            <a:ext cx="9175834" cy="47507"/>
            <a:chOff x="685800" y="1794746"/>
            <a:chExt cx="7772400" cy="179475"/>
          </a:xfrm>
        </p:grpSpPr>
        <p:sp>
          <p:nvSpPr>
            <p:cNvPr id="13" name="Rectangle 12"/>
            <p:cNvSpPr/>
            <p:nvPr userDrawn="1"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-line-bluetext-colorshield.png"/>
          <p:cNvPicPr/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699003"/>
            <a:ext cx="1809092" cy="347472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0464" y="1029708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ill Sans" panose="020B0502020104020203"/>
                <a:cs typeface="Gill Sans" panose="020B0502020104020203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Gill Sans" panose="020B0502020104020203"/>
                <a:cs typeface="Gill Sans" panose="020B0502020104020203"/>
              </a:defRPr>
            </a:lvl1pPr>
          </a:lstStyle>
          <a:p>
            <a:fld id="{8A758EFE-665F-4341-B5B8-2DAEADA52F6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itle Placeholder 1"/>
          <p:cNvSpPr>
            <a:spLocks noGrp="1"/>
          </p:cNvSpPr>
          <p:nvPr>
            <p:ph type="title"/>
          </p:nvPr>
        </p:nvSpPr>
        <p:spPr>
          <a:xfrm>
            <a:off x="323520" y="-19089"/>
            <a:ext cx="8229600" cy="727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rgbClr val="95001A"/>
          </a:solidFill>
          <a:latin typeface="Gill Sans" panose="020B0502020104020203"/>
          <a:ea typeface="+mj-ea"/>
          <a:cs typeface="Gill Sans" panose="020B0502020104020203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tx1"/>
        </a:buClr>
        <a:buFont typeface="Arial" panose="020B0604020202090204"/>
        <a:buChar char="•"/>
        <a:defRPr sz="2800" kern="1200">
          <a:solidFill>
            <a:schemeClr val="accent6"/>
          </a:solidFill>
          <a:latin typeface="Gill Sans" panose="020B0502020104020203"/>
          <a:ea typeface="+mn-ea"/>
          <a:cs typeface="Gill Sans" panose="020B0502020104020203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tx1"/>
        </a:buClr>
        <a:buFont typeface="Arial" panose="020B0604020202090204"/>
        <a:buChar char="–"/>
        <a:defRPr sz="2400" kern="1200">
          <a:solidFill>
            <a:schemeClr val="accent6"/>
          </a:solidFill>
          <a:latin typeface="Gill Sans" panose="020B0502020104020203"/>
          <a:ea typeface="+mn-ea"/>
          <a:cs typeface="Gill Sans" panose="020B0502020104020203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tx1"/>
        </a:buClr>
        <a:buFont typeface="Arial" panose="020B0604020202090204"/>
        <a:buChar char="•"/>
        <a:defRPr sz="2000" kern="1200">
          <a:solidFill>
            <a:schemeClr val="accent6"/>
          </a:solidFill>
          <a:latin typeface="Gill Sans" panose="020B0502020104020203"/>
          <a:ea typeface="+mn-ea"/>
          <a:cs typeface="Gill Sans" panose="020B0502020104020203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tx1"/>
        </a:buClr>
        <a:buFont typeface="Arial" panose="020B0604020202090204"/>
        <a:buChar char="–"/>
        <a:defRPr sz="1800" kern="1200">
          <a:solidFill>
            <a:schemeClr val="accent6"/>
          </a:solidFill>
          <a:latin typeface="Gill Sans" panose="020B0502020104020203"/>
          <a:ea typeface="+mn-ea"/>
          <a:cs typeface="Gill Sans" panose="020B0502020104020203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tx1"/>
        </a:buClr>
        <a:buFont typeface="Arial" panose="020B0604020202090204"/>
        <a:buChar char="»"/>
        <a:defRPr sz="1800" kern="1200">
          <a:solidFill>
            <a:schemeClr val="accent6"/>
          </a:solidFill>
          <a:latin typeface="Gill Sans" panose="020B0502020104020203"/>
          <a:ea typeface="+mn-ea"/>
          <a:cs typeface="Gill Sans" panose="020B0502020104020203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	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4000" dirty="0"/>
              <a:t>UFO Shape Prediction Project</a:t>
            </a:r>
            <a:br>
              <a:rPr lang="en-US" dirty="0"/>
            </a:br>
            <a:endParaRPr lang="en-US" sz="2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Group 94</a:t>
            </a:r>
            <a:br>
              <a:rPr lang="en-US" dirty="0"/>
            </a:br>
            <a:r>
              <a:rPr lang="en-US" dirty="0" err="1"/>
              <a:t>Chenning</a:t>
            </a:r>
            <a:r>
              <a:rPr lang="en-US" dirty="0"/>
              <a:t> Huang, Jingyi Gong, </a:t>
            </a:r>
            <a:r>
              <a:rPr lang="en-US" dirty="0" err="1"/>
              <a:t>Shangyi</a:t>
            </a:r>
            <a:r>
              <a:rPr lang="en-US" dirty="0"/>
              <a:t> Du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8EFE-665F-4341-B5B8-2DAEADA52F6C}" type="slidenum">
              <a:rPr lang="en-US" smtClean="0"/>
              <a:t>2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Objective</a:t>
            </a:r>
          </a:p>
        </p:txBody>
      </p:sp>
      <p:sp>
        <p:nvSpPr>
          <p:cNvPr id="5" name="Content Placeholder 3"/>
          <p:cNvSpPr txBox="1"/>
          <p:nvPr/>
        </p:nvSpPr>
        <p:spPr>
          <a:xfrm>
            <a:off x="457199" y="1016001"/>
            <a:ext cx="7890933" cy="357862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anose="020B0604020202090204"/>
              <a:buChar char="•"/>
              <a:defRPr sz="2800" kern="1200">
                <a:solidFill>
                  <a:schemeClr val="accent6"/>
                </a:solidFill>
                <a:latin typeface="Gill Sans" panose="020B0502020104020203"/>
                <a:ea typeface="+mn-ea"/>
                <a:cs typeface="Gill Sans" panose="020B0502020104020203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anose="020B0604020202090204"/>
              <a:buChar char="–"/>
              <a:defRPr sz="2400" kern="1200">
                <a:solidFill>
                  <a:schemeClr val="accent6"/>
                </a:solidFill>
                <a:latin typeface="Gill Sans" panose="020B0502020104020203"/>
                <a:ea typeface="+mn-ea"/>
                <a:cs typeface="Gill Sans" panose="020B0502020104020203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anose="020B0604020202090204"/>
              <a:buChar char="•"/>
              <a:defRPr sz="2000" kern="1200">
                <a:solidFill>
                  <a:schemeClr val="accent6"/>
                </a:solidFill>
                <a:latin typeface="Gill Sans" panose="020B0502020104020203"/>
                <a:ea typeface="+mn-ea"/>
                <a:cs typeface="Gill Sans" panose="020B0502020104020203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anose="020B0604020202090204"/>
              <a:buChar char="–"/>
              <a:defRPr sz="1800" kern="1200">
                <a:solidFill>
                  <a:schemeClr val="accent6"/>
                </a:solidFill>
                <a:latin typeface="Gill Sans" panose="020B0502020104020203"/>
                <a:ea typeface="+mn-ea"/>
                <a:cs typeface="Gill Sans" panose="020B0502020104020203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anose="020B0604020202090204"/>
              <a:buChar char="»"/>
              <a:defRPr sz="1800" kern="1200">
                <a:solidFill>
                  <a:schemeClr val="accent6"/>
                </a:solidFill>
                <a:latin typeface="Gill Sans" panose="020B0502020104020203"/>
                <a:ea typeface="+mn-ea"/>
                <a:cs typeface="Gill Sans" panose="020B0502020104020203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10152" y="1925419"/>
            <a:ext cx="873760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/>
                </a:solidFill>
                <a:latin typeface="Gill Sans" panose="020B0502020104020203"/>
                <a:cs typeface="Gill Sans" panose="020B0502020104020203"/>
              </a:rPr>
              <a:t>Model and interpret how contextual factors influence the reporting of UFO shapes using NUFORC sighting data from the late 20th century to the present.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152" y="3894723"/>
            <a:ext cx="38247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NUFORC: National UFO Reporting Center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8EFE-665F-4341-B5B8-2DAEADA52F6C}" type="slidenum">
              <a:rPr lang="en-US" smtClean="0"/>
              <a:t>3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152" y="170657"/>
            <a:ext cx="8229600" cy="693605"/>
          </a:xfrm>
        </p:spPr>
        <p:txBody>
          <a:bodyPr>
            <a:normAutofit/>
          </a:bodyPr>
          <a:lstStyle/>
          <a:p>
            <a:r>
              <a:rPr lang="en-US" dirty="0"/>
              <a:t>Value Proposition</a:t>
            </a:r>
          </a:p>
        </p:txBody>
      </p:sp>
      <p:sp>
        <p:nvSpPr>
          <p:cNvPr id="5" name="Content Placeholder 3"/>
          <p:cNvSpPr txBox="1"/>
          <p:nvPr/>
        </p:nvSpPr>
        <p:spPr>
          <a:xfrm>
            <a:off x="457199" y="1016001"/>
            <a:ext cx="7890933" cy="357862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anose="020B0604020202090204"/>
              <a:buChar char="•"/>
              <a:defRPr sz="2800" kern="1200">
                <a:solidFill>
                  <a:schemeClr val="accent6"/>
                </a:solidFill>
                <a:latin typeface="Gill Sans" panose="020B0502020104020203"/>
                <a:ea typeface="+mn-ea"/>
                <a:cs typeface="Gill Sans" panose="020B0502020104020203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anose="020B0604020202090204"/>
              <a:buChar char="–"/>
              <a:defRPr sz="2400" kern="1200">
                <a:solidFill>
                  <a:schemeClr val="accent6"/>
                </a:solidFill>
                <a:latin typeface="Gill Sans" panose="020B0502020104020203"/>
                <a:ea typeface="+mn-ea"/>
                <a:cs typeface="Gill Sans" panose="020B0502020104020203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anose="020B0604020202090204"/>
              <a:buChar char="•"/>
              <a:defRPr sz="2000" kern="1200">
                <a:solidFill>
                  <a:schemeClr val="accent6"/>
                </a:solidFill>
                <a:latin typeface="Gill Sans" panose="020B0502020104020203"/>
                <a:ea typeface="+mn-ea"/>
                <a:cs typeface="Gill Sans" panose="020B0502020104020203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anose="020B0604020202090204"/>
              <a:buChar char="–"/>
              <a:defRPr sz="1800" kern="1200">
                <a:solidFill>
                  <a:schemeClr val="accent6"/>
                </a:solidFill>
                <a:latin typeface="Gill Sans" panose="020B0502020104020203"/>
                <a:ea typeface="+mn-ea"/>
                <a:cs typeface="Gill Sans" panose="020B0502020104020203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anose="020B0604020202090204"/>
              <a:buChar char="»"/>
              <a:defRPr sz="1800" kern="1200">
                <a:solidFill>
                  <a:schemeClr val="accent6"/>
                </a:solidFill>
                <a:latin typeface="Gill Sans" panose="020B0502020104020203"/>
                <a:ea typeface="+mn-ea"/>
                <a:cs typeface="Gill Sans" panose="020B0502020104020203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-213101" y="2032833"/>
            <a:ext cx="9276106" cy="3028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</a:pPr>
            <a:endParaRPr lang="en-US" sz="2200" dirty="0">
              <a:solidFill>
                <a:schemeClr val="accent6"/>
              </a:solidFill>
              <a:latin typeface="Gill Sans" panose="020B0502020104020203"/>
              <a:cs typeface="Gill Sans" panose="020B0502020104020203"/>
            </a:endParaRPr>
          </a:p>
          <a:p>
            <a:pPr lvl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</a:pPr>
            <a:endParaRPr lang="en-US" sz="2200" dirty="0">
              <a:solidFill>
                <a:schemeClr val="accent6"/>
              </a:solidFill>
              <a:latin typeface="Gill Sans" panose="020B0502020104020203"/>
              <a:cs typeface="Gill Sans" panose="020B0502020104020203"/>
            </a:endParaRPr>
          </a:p>
          <a:p>
            <a:pPr lvl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</a:pPr>
            <a:endParaRPr lang="en-US" sz="2200" dirty="0">
              <a:solidFill>
                <a:schemeClr val="accent6"/>
              </a:solidFill>
              <a:latin typeface="Gill Sans" panose="020B0502020104020203"/>
              <a:cs typeface="Gill Sans" panose="020B0502020104020203"/>
            </a:endParaRPr>
          </a:p>
          <a:p>
            <a:pPr lvl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</a:pPr>
            <a:endParaRPr lang="en-US" sz="2200" dirty="0">
              <a:solidFill>
                <a:schemeClr val="accent6"/>
              </a:solidFill>
              <a:latin typeface="Gill Sans" panose="020B0502020104020203"/>
              <a:cs typeface="Gill Sans" panose="020B0502020104020203"/>
            </a:endParaRPr>
          </a:p>
          <a:p>
            <a:pPr lvl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</a:pPr>
            <a:endParaRPr lang="en-US" sz="2200" dirty="0">
              <a:solidFill>
                <a:schemeClr val="accent6"/>
              </a:solidFill>
              <a:latin typeface="Gill Sans" panose="020B0502020104020203"/>
              <a:cs typeface="Gill Sans" panose="020B0502020104020203"/>
            </a:endParaRPr>
          </a:p>
          <a:p>
            <a:pPr lvl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</a:pPr>
            <a:r>
              <a:rPr lang="en-US" sz="2000" dirty="0">
                <a:solidFill>
                  <a:schemeClr val="accent6"/>
                </a:solidFill>
                <a:latin typeface="Gill Sans" panose="020B0502020104020203"/>
                <a:cs typeface="Gill Sans" panose="020B0502020104020203"/>
              </a:rPr>
              <a:t>Ultimately, this work helps clarify whether reported UFO shapes reflect actual aerial anomalies, or if they are shaped more by human interpretation, environment, and culture.</a:t>
            </a:r>
          </a:p>
          <a:p>
            <a:endParaRPr lang="en-US" sz="2800" dirty="0">
              <a:solidFill>
                <a:schemeClr val="accent6"/>
              </a:solidFill>
              <a:latin typeface="Gill Sans" panose="020B0502020104020203"/>
              <a:cs typeface="Gill Sans" panose="020B05020201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199" y="1323870"/>
            <a:ext cx="7791107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  <a:r>
              <a:rPr lang="en-US" sz="1600" dirty="0"/>
              <a:t>  Evaluate whether UFO shape reports are driven by </a:t>
            </a:r>
            <a:r>
              <a:rPr lang="en-US" sz="1600" b="1" dirty="0"/>
              <a:t>actual observational features</a:t>
            </a:r>
          </a:p>
          <a:p>
            <a:r>
              <a:rPr lang="en-US" sz="1600" dirty="0"/>
              <a:t>   e.g., distance to UFO, duration of UFO</a:t>
            </a:r>
          </a:p>
          <a:p>
            <a:endParaRPr lang="en-US" sz="1600" dirty="0"/>
          </a:p>
          <a:p>
            <a:r>
              <a:rPr lang="en-US" sz="1600" dirty="0"/>
              <a:t>-  Detect </a:t>
            </a:r>
            <a:r>
              <a:rPr lang="en-US" sz="1600" b="1" dirty="0"/>
              <a:t>geographic and temporal trends</a:t>
            </a:r>
            <a:r>
              <a:rPr lang="en-US" sz="1600" dirty="0"/>
              <a:t> that may indicate environmental causes to </a:t>
            </a:r>
          </a:p>
          <a:p>
            <a:r>
              <a:rPr lang="en-US" sz="1600" dirty="0"/>
              <a:t>UFO shapes.</a:t>
            </a:r>
          </a:p>
          <a:p>
            <a:endParaRPr lang="en-US" sz="1600" dirty="0"/>
          </a:p>
          <a:p>
            <a:r>
              <a:rPr lang="en-US" sz="1600" dirty="0"/>
              <a:t>-  Identify potential </a:t>
            </a:r>
            <a:r>
              <a:rPr lang="en-US" sz="1600" b="1" dirty="0"/>
              <a:t>human-driven reporting biases</a:t>
            </a:r>
            <a:r>
              <a:rPr lang="en-US" sz="1600" dirty="0"/>
              <a:t>.</a:t>
            </a:r>
          </a:p>
          <a:p>
            <a:r>
              <a:rPr lang="en-US" sz="1600" dirty="0"/>
              <a:t>   e.g., culture, literacy, population density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53" y="891703"/>
            <a:ext cx="2287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Our project allows us to: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8EFE-665F-4341-B5B8-2DAEADA52F6C}" type="slidenum">
              <a:rPr lang="en-US" smtClean="0"/>
              <a:t>4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Contents: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Datasets Information</a:t>
            </a:r>
          </a:p>
          <a:p>
            <a:r>
              <a:rPr lang="en-US" dirty="0"/>
              <a:t>Major learnings from EDA</a:t>
            </a:r>
          </a:p>
          <a:p>
            <a:r>
              <a:rPr lang="en-US" dirty="0"/>
              <a:t>Modeling results</a:t>
            </a:r>
          </a:p>
          <a:p>
            <a:r>
              <a:rPr lang="en-US" dirty="0"/>
              <a:t>Implications and insights</a:t>
            </a:r>
          </a:p>
          <a:p>
            <a:r>
              <a:rPr lang="en-US" dirty="0"/>
              <a:t>Challenges/limitations/potential future work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8EFE-665F-4341-B5B8-2DAEADA52F6C}" type="slidenum">
              <a:rPr lang="en-US" smtClean="0"/>
              <a:t>5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Dataset Used 1</a:t>
            </a:r>
            <a:r>
              <a:rPr lang="en-US" baseline="30000" dirty="0"/>
              <a:t>st</a:t>
            </a:r>
            <a:r>
              <a:rPr lang="en-US" dirty="0"/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011" y="884518"/>
            <a:ext cx="7957820" cy="18764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95001A"/>
                </a:solidFill>
                <a:latin typeface="Gill Sans" panose="020B0502020104020203"/>
                <a:ea typeface="+mj-ea"/>
                <a:cs typeface="Gill Sans" panose="020B0502020104020203"/>
              </a:rPr>
              <a:t>Main Dataset:  </a:t>
            </a:r>
            <a:r>
              <a:rPr lang="en-US" dirty="0">
                <a:solidFill>
                  <a:schemeClr val="accent3"/>
                </a:solidFill>
              </a:rPr>
              <a:t>NUFORC UFO Sightings (NUFORC, Kaggle)</a:t>
            </a:r>
          </a:p>
          <a:p>
            <a:r>
              <a:rPr lang="en-US" sz="1600" dirty="0">
                <a:solidFill>
                  <a:schemeClr val="accent5"/>
                </a:solidFill>
              </a:rPr>
              <a:t>Reports of UFO sighting events submitted to the </a:t>
            </a:r>
            <a:r>
              <a:rPr lang="en-US" sz="1600" b="1" dirty="0">
                <a:solidFill>
                  <a:schemeClr val="accent5"/>
                </a:solidFill>
              </a:rPr>
              <a:t>National UFO Reporting Center</a:t>
            </a:r>
            <a:r>
              <a:rPr lang="en-US" sz="1600" dirty="0">
                <a:solidFill>
                  <a:schemeClr val="accent5"/>
                </a:solidFill>
              </a:rPr>
              <a:t> </a:t>
            </a:r>
          </a:p>
          <a:p>
            <a:r>
              <a:rPr lang="en-US" sz="1600" dirty="0">
                <a:solidFill>
                  <a:schemeClr val="accent5"/>
                </a:solidFill>
              </a:rPr>
              <a:t>over 20</a:t>
            </a:r>
            <a:r>
              <a:rPr lang="en-US" sz="1600" baseline="30000" dirty="0">
                <a:solidFill>
                  <a:schemeClr val="accent5"/>
                </a:solidFill>
              </a:rPr>
              <a:t>th</a:t>
            </a:r>
            <a:r>
              <a:rPr lang="en-US" sz="1600" dirty="0">
                <a:solidFill>
                  <a:schemeClr val="accent5"/>
                </a:solidFill>
              </a:rPr>
              <a:t> century.</a:t>
            </a:r>
          </a:p>
          <a:p>
            <a:endParaRPr lang="en-US" sz="1600" dirty="0">
              <a:solidFill>
                <a:schemeClr val="accent5"/>
              </a:solidFill>
            </a:endParaRPr>
          </a:p>
          <a:p>
            <a:r>
              <a:rPr lang="en-US" sz="1600" b="1" dirty="0"/>
              <a:t>Size:</a:t>
            </a:r>
            <a:r>
              <a:rPr lang="en-US" sz="1600" dirty="0"/>
              <a:t> 80,000+ reports</a:t>
            </a:r>
          </a:p>
          <a:p>
            <a:endParaRPr lang="en-US" sz="1600" dirty="0"/>
          </a:p>
          <a:p>
            <a:endParaRPr lang="en-US" sz="1600" dirty="0">
              <a:solidFill>
                <a:schemeClr val="accent5"/>
              </a:solidFill>
            </a:endParaRPr>
          </a:p>
        </p:txBody>
      </p:sp>
      <p:pic>
        <p:nvPicPr>
          <p:cNvPr id="7" name="Picture 6" descr="A screenshot of a phone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152" y="2184525"/>
            <a:ext cx="8227864" cy="10726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0152" y="3687483"/>
            <a:ext cx="3583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→ actual observational features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8EFE-665F-4341-B5B8-2DAEADA52F6C}" type="slidenum">
              <a:rPr lang="en-US" smtClean="0"/>
              <a:t>6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Dataset Used 2</a:t>
            </a:r>
            <a:r>
              <a:rPr lang="en-US" baseline="30000" dirty="0"/>
              <a:t>nd</a:t>
            </a:r>
            <a:r>
              <a:rPr lang="en-US" dirty="0"/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011" y="884518"/>
            <a:ext cx="6586227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City Features Dataset (</a:t>
            </a:r>
            <a:r>
              <a:rPr lang="en-US" dirty="0" err="1">
                <a:solidFill>
                  <a:schemeClr val="accent3"/>
                </a:solidFill>
              </a:rPr>
              <a:t>SimpleMaps</a:t>
            </a:r>
            <a:r>
              <a:rPr lang="en-US" dirty="0">
                <a:solidFill>
                  <a:schemeClr val="accent3"/>
                </a:solidFill>
              </a:rPr>
              <a:t>, NASA/NOAA VIIRS, </a:t>
            </a:r>
            <a:r>
              <a:rPr lang="en-US" dirty="0" err="1">
                <a:solidFill>
                  <a:schemeClr val="accent3"/>
                </a:solidFill>
              </a:rPr>
              <a:t>WorldClim</a:t>
            </a:r>
            <a:r>
              <a:rPr lang="en-US" dirty="0">
                <a:solidFill>
                  <a:schemeClr val="accent3"/>
                </a:solidFill>
              </a:rPr>
              <a:t>)</a:t>
            </a:r>
          </a:p>
          <a:p>
            <a:r>
              <a:rPr lang="en-US" sz="1600" dirty="0">
                <a:solidFill>
                  <a:schemeClr val="accent5"/>
                </a:solidFill>
              </a:rPr>
              <a:t>Geographic and environmental characteristics of cities worldwide</a:t>
            </a:r>
          </a:p>
          <a:p>
            <a:endParaRPr lang="en-US" sz="1600" dirty="0">
              <a:solidFill>
                <a:schemeClr val="accent5"/>
              </a:solidFill>
            </a:endParaRPr>
          </a:p>
          <a:p>
            <a:r>
              <a:rPr lang="en-US" sz="1600" b="1" dirty="0"/>
              <a:t>Size:</a:t>
            </a:r>
            <a:r>
              <a:rPr lang="en-US" sz="1600" dirty="0"/>
              <a:t> 48,000+ cities</a:t>
            </a:r>
          </a:p>
          <a:p>
            <a:endParaRPr lang="en-US" sz="1600" dirty="0"/>
          </a:p>
          <a:p>
            <a:endParaRPr lang="en-US" sz="1600" dirty="0">
              <a:solidFill>
                <a:schemeClr val="accent5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10152" y="3687483"/>
            <a:ext cx="4110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→ geographic and temporal features</a:t>
            </a:r>
            <a:endParaRPr lang="en-US" dirty="0"/>
          </a:p>
        </p:txBody>
      </p:sp>
      <p:pic>
        <p:nvPicPr>
          <p:cNvPr id="6" name="Picture 5" descr="A screenshot of a computer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152" y="2065792"/>
            <a:ext cx="8610696" cy="12451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8EFE-665F-4341-B5B8-2DAEADA52F6C}" type="slidenum">
              <a:rPr lang="en-US" smtClean="0"/>
              <a:t>7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Dataset Used 3</a:t>
            </a:r>
            <a:r>
              <a:rPr lang="en-US" baseline="30000" dirty="0"/>
              <a:t>rd </a:t>
            </a:r>
            <a:r>
              <a:rPr lang="en-US" dirty="0"/>
              <a:t>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011" y="884518"/>
            <a:ext cx="7082773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Global Airports Dataset (</a:t>
            </a:r>
            <a:r>
              <a:rPr lang="en-US" dirty="0" err="1">
                <a:solidFill>
                  <a:schemeClr val="accent3"/>
                </a:solidFill>
              </a:rPr>
              <a:t>OurAirports</a:t>
            </a:r>
            <a:r>
              <a:rPr lang="en-US" dirty="0">
                <a:solidFill>
                  <a:schemeClr val="accent3"/>
                </a:solidFill>
              </a:rPr>
              <a:t>)</a:t>
            </a:r>
          </a:p>
          <a:p>
            <a:r>
              <a:rPr lang="en-US" sz="1600" dirty="0">
                <a:solidFill>
                  <a:schemeClr val="accent5"/>
                </a:solidFill>
              </a:rPr>
              <a:t>Up-to-date information on airport locations and aviation infrastructure worldwide.</a:t>
            </a:r>
          </a:p>
          <a:p>
            <a:endParaRPr lang="en-US" sz="1600" dirty="0">
              <a:solidFill>
                <a:schemeClr val="accent5"/>
              </a:solidFill>
            </a:endParaRPr>
          </a:p>
          <a:p>
            <a:r>
              <a:rPr lang="en-US" sz="1600" b="1" dirty="0"/>
              <a:t>Size:</a:t>
            </a:r>
            <a:r>
              <a:rPr lang="en-US" sz="1600" dirty="0"/>
              <a:t> 84,000+ airports</a:t>
            </a:r>
          </a:p>
          <a:p>
            <a:endParaRPr lang="en-US" sz="1600" dirty="0"/>
          </a:p>
          <a:p>
            <a:endParaRPr lang="en-US" sz="1600" dirty="0">
              <a:solidFill>
                <a:schemeClr val="accent5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10152" y="3932519"/>
            <a:ext cx="3834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→ human-driven reporting biases</a:t>
            </a:r>
            <a:r>
              <a:rPr lang="en-US" dirty="0"/>
              <a:t> </a:t>
            </a:r>
          </a:p>
        </p:txBody>
      </p:sp>
      <p:pic>
        <p:nvPicPr>
          <p:cNvPr id="9" name="Picture 8" descr="A screenshot of a computer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152" y="2087045"/>
            <a:ext cx="4792116" cy="16004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8EFE-665F-4341-B5B8-2DAEADA52F6C}" type="slidenum">
              <a:rPr lang="en-US" smtClean="0"/>
              <a:t>8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Dataset Used 4</a:t>
            </a:r>
            <a:r>
              <a:rPr lang="en-US" baseline="30000" dirty="0"/>
              <a:t>th</a:t>
            </a:r>
            <a:r>
              <a:rPr lang="en-US" dirty="0"/>
              <a:t>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011" y="884518"/>
            <a:ext cx="7123104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Country Education Level Dataset (Our World in Data, Kaggle)</a:t>
            </a:r>
          </a:p>
          <a:p>
            <a:r>
              <a:rPr lang="en-US" sz="1600" dirty="0">
                <a:solidFill>
                  <a:schemeClr val="accent5"/>
                </a:solidFill>
              </a:rPr>
              <a:t>National-level indicators reflecting cultural exposure and socioeconomic conditions</a:t>
            </a:r>
          </a:p>
          <a:p>
            <a:endParaRPr lang="en-US" sz="1600" dirty="0">
              <a:solidFill>
                <a:schemeClr val="accent5"/>
              </a:solidFill>
            </a:endParaRPr>
          </a:p>
          <a:p>
            <a:r>
              <a:rPr lang="en-US" sz="1600" b="1" dirty="0"/>
              <a:t>Size:</a:t>
            </a:r>
            <a:r>
              <a:rPr lang="en-US" sz="1600" dirty="0"/>
              <a:t> 200+ countries</a:t>
            </a:r>
          </a:p>
          <a:p>
            <a:endParaRPr lang="en-US" sz="1600" dirty="0"/>
          </a:p>
          <a:p>
            <a:endParaRPr lang="en-US" sz="1600" dirty="0">
              <a:solidFill>
                <a:schemeClr val="accent5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79732" y="4329667"/>
            <a:ext cx="3834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→ human-driven reporting biases</a:t>
            </a:r>
            <a:r>
              <a:rPr lang="en-US" dirty="0"/>
              <a:t>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rcRect b="1247"/>
          <a:stretch>
            <a:fillRect/>
          </a:stretch>
        </p:blipFill>
        <p:spPr>
          <a:xfrm>
            <a:off x="366907" y="2056293"/>
            <a:ext cx="2716827" cy="2593094"/>
          </a:xfrm>
          <a:prstGeom prst="rect">
            <a:avLst/>
          </a:prstGeom>
        </p:spPr>
      </p:pic>
      <p:pic>
        <p:nvPicPr>
          <p:cNvPr id="10" name="Picture 9" descr="A screenshot of a graph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9732" y="1995617"/>
            <a:ext cx="3482953" cy="19718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8EFE-665F-4341-B5B8-2DAEADA52F6C}" type="slidenum">
              <a:rPr lang="en-US" smtClean="0"/>
              <a:t>9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EDA Insights</a:t>
            </a:r>
            <a:r>
              <a:rPr lang="zh-CN" altLang="en-US" dirty="0"/>
              <a:t> </a:t>
            </a:r>
            <a:r>
              <a:rPr lang="en-US" altLang="zh-CN" dirty="0"/>
              <a:t>#1</a:t>
            </a:r>
            <a:endParaRPr lang="en-US" dirty="0"/>
          </a:p>
        </p:txBody>
      </p:sp>
      <p:sp>
        <p:nvSpPr>
          <p:cNvPr id="5" name="Content Placeholder 3"/>
          <p:cNvSpPr txBox="1"/>
          <p:nvPr/>
        </p:nvSpPr>
        <p:spPr>
          <a:xfrm>
            <a:off x="457199" y="1016001"/>
            <a:ext cx="7890933" cy="357862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anose="020B0604020202090204"/>
              <a:buChar char="•"/>
              <a:defRPr sz="2800" kern="1200">
                <a:solidFill>
                  <a:schemeClr val="accent6"/>
                </a:solidFill>
                <a:latin typeface="Gill Sans" panose="020B0502020104020203"/>
                <a:ea typeface="+mn-ea"/>
                <a:cs typeface="Gill Sans" panose="020B0502020104020203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anose="020B0604020202090204"/>
              <a:buChar char="–"/>
              <a:defRPr sz="2400" kern="1200">
                <a:solidFill>
                  <a:schemeClr val="accent6"/>
                </a:solidFill>
                <a:latin typeface="Gill Sans" panose="020B0502020104020203"/>
                <a:ea typeface="+mn-ea"/>
                <a:cs typeface="Gill Sans" panose="020B0502020104020203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anose="020B0604020202090204"/>
              <a:buChar char="•"/>
              <a:defRPr sz="2000" kern="1200">
                <a:solidFill>
                  <a:schemeClr val="accent6"/>
                </a:solidFill>
                <a:latin typeface="Gill Sans" panose="020B0502020104020203"/>
                <a:ea typeface="+mn-ea"/>
                <a:cs typeface="Gill Sans" panose="020B0502020104020203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anose="020B0604020202090204"/>
              <a:buChar char="–"/>
              <a:defRPr sz="1800" kern="1200">
                <a:solidFill>
                  <a:schemeClr val="accent6"/>
                </a:solidFill>
                <a:latin typeface="Gill Sans" panose="020B0502020104020203"/>
                <a:ea typeface="+mn-ea"/>
                <a:cs typeface="Gill Sans" panose="020B0502020104020203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anose="020B0604020202090204"/>
              <a:buChar char="»"/>
              <a:defRPr sz="1800" kern="1200">
                <a:solidFill>
                  <a:schemeClr val="accent6"/>
                </a:solidFill>
                <a:latin typeface="Gill Sans" panose="020B0502020104020203"/>
                <a:ea typeface="+mn-ea"/>
                <a:cs typeface="Gill Sans" panose="020B0502020104020203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0014" y="751594"/>
            <a:ext cx="3494547" cy="4391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51011" y="884518"/>
            <a:ext cx="470900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Target Class Distribution (Shape Distribution)</a:t>
            </a:r>
          </a:p>
          <a:p>
            <a:endParaRPr lang="en-US" dirty="0">
              <a:solidFill>
                <a:schemeClr val="accent3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400" dirty="0"/>
              <a:t>Shows the severe class imbalance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Informed our choice of SMOTE in feature engineering to prepare data for modeling</a:t>
            </a:r>
            <a:endParaRPr lang="en-US" sz="1400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8EFE-665F-4341-B5B8-2DAEADA52F6C}" type="slidenum">
              <a:rPr lang="en-US" smtClean="0"/>
              <a:t>10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EDA Insights</a:t>
            </a:r>
            <a:r>
              <a:rPr lang="zh-CN" altLang="en-US" dirty="0"/>
              <a:t> </a:t>
            </a:r>
            <a:r>
              <a:rPr lang="en-US" altLang="zh-CN" dirty="0"/>
              <a:t>#2</a:t>
            </a:r>
            <a:endParaRPr lang="en-US" dirty="0"/>
          </a:p>
        </p:txBody>
      </p:sp>
      <p:sp>
        <p:nvSpPr>
          <p:cNvPr id="5" name="Content Placeholder 3"/>
          <p:cNvSpPr txBox="1"/>
          <p:nvPr/>
        </p:nvSpPr>
        <p:spPr>
          <a:xfrm>
            <a:off x="457199" y="1016001"/>
            <a:ext cx="7890933" cy="357862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anose="020B0604020202090204"/>
              <a:buChar char="•"/>
              <a:defRPr sz="2800" kern="1200">
                <a:solidFill>
                  <a:schemeClr val="accent6"/>
                </a:solidFill>
                <a:latin typeface="Gill Sans" panose="020B0502020104020203"/>
                <a:ea typeface="+mn-ea"/>
                <a:cs typeface="Gill Sans" panose="020B0502020104020203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anose="020B0604020202090204"/>
              <a:buChar char="–"/>
              <a:defRPr sz="2400" kern="1200">
                <a:solidFill>
                  <a:schemeClr val="accent6"/>
                </a:solidFill>
                <a:latin typeface="Gill Sans" panose="020B0502020104020203"/>
                <a:ea typeface="+mn-ea"/>
                <a:cs typeface="Gill Sans" panose="020B0502020104020203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anose="020B0604020202090204"/>
              <a:buChar char="•"/>
              <a:defRPr sz="2000" kern="1200">
                <a:solidFill>
                  <a:schemeClr val="accent6"/>
                </a:solidFill>
                <a:latin typeface="Gill Sans" panose="020B0502020104020203"/>
                <a:ea typeface="+mn-ea"/>
                <a:cs typeface="Gill Sans" panose="020B0502020104020203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anose="020B0604020202090204"/>
              <a:buChar char="–"/>
              <a:defRPr sz="1800" kern="1200">
                <a:solidFill>
                  <a:schemeClr val="accent6"/>
                </a:solidFill>
                <a:latin typeface="Gill Sans" panose="020B0502020104020203"/>
                <a:ea typeface="+mn-ea"/>
                <a:cs typeface="Gill Sans" panose="020B0502020104020203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anose="020B0604020202090204"/>
              <a:buChar char="»"/>
              <a:defRPr sz="1800" kern="1200">
                <a:solidFill>
                  <a:schemeClr val="accent6"/>
                </a:solidFill>
                <a:latin typeface="Gill Sans" panose="020B0502020104020203"/>
                <a:ea typeface="+mn-ea"/>
                <a:cs typeface="Gill Sans" panose="020B0502020104020203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51012" y="884518"/>
            <a:ext cx="393781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Shape Distribution in Most Reported American Cities</a:t>
            </a:r>
          </a:p>
          <a:p>
            <a:endParaRPr lang="en-US" sz="1600" dirty="0"/>
          </a:p>
          <a:p>
            <a:pPr marL="285750" indent="-285750">
              <a:buFontTx/>
              <a:buChar char="-"/>
            </a:pPr>
            <a:r>
              <a:rPr lang="en-US" sz="1400" dirty="0"/>
              <a:t>Different shape rankings among cities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Distribution of shapes not tied to a single region</a:t>
            </a:r>
          </a:p>
          <a:p>
            <a:pPr marL="285750" indent="-285750">
              <a:buFontTx/>
              <a:buChar char="-"/>
            </a:pPr>
            <a:endParaRPr lang="en-US" sz="1600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5011" y="884518"/>
            <a:ext cx="4710499" cy="3777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8EFE-665F-4341-B5B8-2DAEADA52F6C}" type="slidenum">
              <a:rPr lang="en-US" smtClean="0"/>
              <a:t>11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EDA Insights</a:t>
            </a:r>
            <a:r>
              <a:rPr lang="zh-CN" altLang="en-US" dirty="0"/>
              <a:t> </a:t>
            </a:r>
            <a:r>
              <a:rPr lang="en-US" altLang="zh-CN" dirty="0"/>
              <a:t>#3</a:t>
            </a:r>
            <a:endParaRPr lang="en-US" dirty="0"/>
          </a:p>
        </p:txBody>
      </p:sp>
      <p:sp>
        <p:nvSpPr>
          <p:cNvPr id="5" name="Content Placeholder 3"/>
          <p:cNvSpPr txBox="1"/>
          <p:nvPr/>
        </p:nvSpPr>
        <p:spPr>
          <a:xfrm>
            <a:off x="457199" y="1016001"/>
            <a:ext cx="7890933" cy="357862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anose="020B0604020202090204"/>
              <a:buChar char="•"/>
              <a:defRPr sz="2800" kern="1200">
                <a:solidFill>
                  <a:schemeClr val="accent6"/>
                </a:solidFill>
                <a:latin typeface="Gill Sans" panose="020B0502020104020203"/>
                <a:ea typeface="+mn-ea"/>
                <a:cs typeface="Gill Sans" panose="020B0502020104020203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anose="020B0604020202090204"/>
              <a:buChar char="–"/>
              <a:defRPr sz="2400" kern="1200">
                <a:solidFill>
                  <a:schemeClr val="accent6"/>
                </a:solidFill>
                <a:latin typeface="Gill Sans" panose="020B0502020104020203"/>
                <a:ea typeface="+mn-ea"/>
                <a:cs typeface="Gill Sans" panose="020B0502020104020203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anose="020B0604020202090204"/>
              <a:buChar char="•"/>
              <a:defRPr sz="2000" kern="1200">
                <a:solidFill>
                  <a:schemeClr val="accent6"/>
                </a:solidFill>
                <a:latin typeface="Gill Sans" panose="020B0502020104020203"/>
                <a:ea typeface="+mn-ea"/>
                <a:cs typeface="Gill Sans" panose="020B0502020104020203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anose="020B0604020202090204"/>
              <a:buChar char="–"/>
              <a:defRPr sz="1800" kern="1200">
                <a:solidFill>
                  <a:schemeClr val="accent6"/>
                </a:solidFill>
                <a:latin typeface="Gill Sans" panose="020B0502020104020203"/>
                <a:ea typeface="+mn-ea"/>
                <a:cs typeface="Gill Sans" panose="020B0502020104020203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anose="020B0604020202090204"/>
              <a:buChar char="»"/>
              <a:defRPr sz="1800" kern="1200">
                <a:solidFill>
                  <a:schemeClr val="accent6"/>
                </a:solidFill>
                <a:latin typeface="Gill Sans" panose="020B0502020104020203"/>
                <a:ea typeface="+mn-ea"/>
                <a:cs typeface="Gill Sans" panose="020B0502020104020203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809" b="3857"/>
          <a:stretch>
            <a:fillRect/>
          </a:stretch>
        </p:blipFill>
        <p:spPr bwMode="auto">
          <a:xfrm>
            <a:off x="4750342" y="846810"/>
            <a:ext cx="3963936" cy="3852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51011" y="884518"/>
            <a:ext cx="43209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24-Hour Patterns for Top 5 Shapes</a:t>
            </a:r>
          </a:p>
          <a:p>
            <a:endParaRPr lang="en-US" dirty="0">
              <a:solidFill>
                <a:schemeClr val="accent3"/>
              </a:solidFill>
            </a:endParaRPr>
          </a:p>
          <a:p>
            <a:endParaRPr lang="en-US" dirty="0">
              <a:solidFill>
                <a:schemeClr val="accent3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400" dirty="0"/>
              <a:t>Shows shapes behave differently across hours: ”light" has largest difference between night and afternoon, “circle” and ”triangle” remain flat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8EFE-665F-4341-B5B8-2DAEADA52F6C}" type="slidenum">
              <a:rPr lang="en-US" smtClean="0"/>
              <a:t>12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Insights</a:t>
            </a:r>
            <a:r>
              <a:rPr lang="zh-CN" altLang="en-US" dirty="0"/>
              <a:t> </a:t>
            </a:r>
            <a:r>
              <a:rPr lang="en-US" altLang="zh-CN" dirty="0"/>
              <a:t>#4</a:t>
            </a:r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74" r="-244"/>
          <a:stretch>
            <a:fillRect/>
          </a:stretch>
        </p:blipFill>
        <p:spPr bwMode="auto">
          <a:xfrm>
            <a:off x="4769565" y="761094"/>
            <a:ext cx="4123424" cy="4006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51011" y="884518"/>
            <a:ext cx="3963937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Shape Composition by Time of Day</a:t>
            </a:r>
          </a:p>
          <a:p>
            <a:endParaRPr lang="en-US" sz="1400" dirty="0">
              <a:solidFill>
                <a:schemeClr val="accent3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400" dirty="0"/>
              <a:t>Confirms nighttime dominates reporting for all shapes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Shows unequal distribution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Justifies including </a:t>
            </a:r>
            <a:r>
              <a:rPr lang="en-US" sz="1400" dirty="0" err="1"/>
              <a:t>time_of_day</a:t>
            </a:r>
            <a:r>
              <a:rPr lang="en-US" sz="1400" dirty="0"/>
              <a:t> as a categorical feature since it shifts shape probabilities differently</a:t>
            </a:r>
            <a:endParaRPr lang="en-US" sz="14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8EFE-665F-4341-B5B8-2DAEADA52F6C}" type="slidenum">
              <a:rPr lang="en-US" smtClean="0"/>
              <a:t>13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Insights</a:t>
            </a:r>
            <a:r>
              <a:rPr lang="zh-CN" altLang="en-US" dirty="0"/>
              <a:t> </a:t>
            </a:r>
            <a:r>
              <a:rPr lang="en-US" altLang="zh-CN" dirty="0"/>
              <a:t>#5</a:t>
            </a:r>
            <a:endParaRPr lang="en-US" dirty="0"/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2103" y="2112140"/>
            <a:ext cx="4451075" cy="2652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86209"/>
            <a:ext cx="4717591" cy="2439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51011" y="884518"/>
            <a:ext cx="6713889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Duration vs Shape Analysis</a:t>
            </a:r>
          </a:p>
          <a:p>
            <a:r>
              <a:rPr lang="en-US" sz="1600" dirty="0"/>
              <a:t>Boxplot showing median duration per shape; bar chart showing mean duration</a:t>
            </a:r>
          </a:p>
          <a:p>
            <a:endParaRPr lang="en-US" sz="1600" dirty="0"/>
          </a:p>
          <a:p>
            <a:pPr marL="285750" indent="-285750">
              <a:buFontTx/>
              <a:buChar char="-"/>
            </a:pPr>
            <a:r>
              <a:rPr lang="en-US" sz="1400" dirty="0"/>
              <a:t>Duration (seconds) has predictive signal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Suggesting certain shapes are associated with longer/shorter sightings</a:t>
            </a:r>
          </a:p>
          <a:p>
            <a:endParaRPr lang="en-US" sz="1600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Handling imbalanced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73939" y="1032798"/>
            <a:ext cx="4121501" cy="57240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Oversampling with SMOTE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8EFE-665F-4341-B5B8-2DAEADA52F6C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391C1521-3060-680E-9C60-E86EFEBF7B17}"/>
              </a:ext>
            </a:extLst>
          </p:cNvPr>
          <p:cNvSpPr/>
          <p:nvPr/>
        </p:nvSpPr>
        <p:spPr>
          <a:xfrm>
            <a:off x="412694" y="1221897"/>
            <a:ext cx="323681" cy="194209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412307-A5D2-5CA9-AF96-B8F0CF207AC8}"/>
              </a:ext>
            </a:extLst>
          </p:cNvPr>
          <p:cNvSpPr txBox="1"/>
          <p:nvPr/>
        </p:nvSpPr>
        <p:spPr>
          <a:xfrm>
            <a:off x="310152" y="1559579"/>
            <a:ext cx="7422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Oversample: synthetically generate the minority class to fix class imbalance</a:t>
            </a:r>
            <a:endParaRPr lang="en-CN" dirty="0"/>
          </a:p>
        </p:txBody>
      </p:sp>
      <p:pic>
        <p:nvPicPr>
          <p:cNvPr id="8" name="Picture 7" descr="A close-up of a graph&#10;&#10;AI-generated content may be incorrect.">
            <a:extLst>
              <a:ext uri="{FF2B5EF4-FFF2-40B4-BE49-F238E27FC236}">
                <a16:creationId xmlns:a16="http://schemas.microsoft.com/office/drawing/2014/main" id="{3CEA1C9A-55F6-8A75-16BF-3C89218C0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30" y="2131984"/>
            <a:ext cx="7772400" cy="25466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Baseline Models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8EFE-665F-4341-B5B8-2DAEADA52F6C}" type="slidenum">
              <a:rPr lang="en-US" smtClean="0"/>
              <a:t>15</a:t>
            </a:fld>
            <a:endParaRPr lang="en-US" dirty="0"/>
          </a:p>
        </p:txBody>
      </p:sp>
      <p:sp>
        <p:nvSpPr>
          <p:cNvPr id="8" name="TextBox 4"/>
          <p:cNvSpPr txBox="1"/>
          <p:nvPr/>
        </p:nvSpPr>
        <p:spPr>
          <a:xfrm>
            <a:off x="250825" y="884555"/>
            <a:ext cx="3747135" cy="1353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dirty="0">
                <a:solidFill>
                  <a:schemeClr val="accent3"/>
                </a:solidFill>
              </a:rPr>
              <a:t>Two Baseline Models</a:t>
            </a:r>
            <a:endParaRPr lang="en-US" dirty="0">
              <a:solidFill>
                <a:schemeClr val="accent3"/>
              </a:solidFill>
            </a:endParaRPr>
          </a:p>
          <a:p>
            <a:pPr algn="l"/>
            <a:r>
              <a:rPr lang="en-US" altLang="zh-CN" sz="1600" dirty="0"/>
              <a:t>Baseline 1: Majority-class model</a:t>
            </a:r>
          </a:p>
          <a:p>
            <a:pPr algn="l"/>
            <a:endParaRPr lang="en-US" altLang="zh-CN" sz="1600" dirty="0"/>
          </a:p>
          <a:p>
            <a:pPr marL="285750" indent="-285750" algn="l">
              <a:buFontTx/>
              <a:buChar char="-"/>
            </a:pPr>
            <a:r>
              <a:rPr lang="en-US" altLang="zh-CN" sz="1600" dirty="0">
                <a:sym typeface="+mn-ea"/>
              </a:rPr>
              <a:t>Always predicts the most frequent shape (“light”)</a:t>
            </a:r>
            <a:endParaRPr lang="en-US" sz="1600" dirty="0">
              <a:solidFill>
                <a:schemeClr val="accent5"/>
              </a:solidFill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4558851" y="1146138"/>
            <a:ext cx="390207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600" dirty="0"/>
              <a:t>Baseline 2: Multinomial Logistic Regression</a:t>
            </a:r>
          </a:p>
          <a:p>
            <a:pPr algn="l"/>
            <a:endParaRPr lang="en-US" altLang="zh-CN" sz="1600" dirty="0"/>
          </a:p>
          <a:p>
            <a:pPr marL="285750" indent="-285750" algn="l">
              <a:buFontTx/>
              <a:buChar char="-"/>
            </a:pPr>
            <a:r>
              <a:rPr lang="en-US" altLang="zh-CN" sz="1600" dirty="0">
                <a:solidFill>
                  <a:schemeClr val="accent5"/>
                </a:solidFill>
              </a:rPr>
              <a:t>Linear classifier on all engineered features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25" y="2696210"/>
            <a:ext cx="3935095" cy="55499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1100" y="2413000"/>
            <a:ext cx="3037205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Modeling Pt.2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8EFE-665F-4341-B5B8-2DAEADA52F6C}" type="slidenum">
              <a:rPr lang="en-US" smtClean="0"/>
              <a:t>16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51011" y="884518"/>
            <a:ext cx="3963937" cy="2953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Nonlinear Models &amp; Imbalance Handling</a:t>
            </a:r>
          </a:p>
          <a:p>
            <a:r>
              <a:rPr lang="en-US" altLang="zh-CN" sz="1400" dirty="0"/>
              <a:t>4 Models evaluated: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Random Forests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AdaBoost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XGBoost</a:t>
            </a:r>
          </a:p>
          <a:p>
            <a:pPr marL="285750" indent="-285750">
              <a:buFontTx/>
              <a:buChar char="-"/>
            </a:pPr>
            <a:r>
              <a:rPr lang="en-US" altLang="zh-CN" sz="1400" dirty="0"/>
              <a:t>SVM(RBF)</a:t>
            </a:r>
          </a:p>
          <a:p>
            <a:pPr indent="0">
              <a:buFontTx/>
              <a:buNone/>
            </a:pPr>
            <a:endParaRPr lang="en-US" sz="1400" dirty="0">
              <a:solidFill>
                <a:schemeClr val="accent3"/>
              </a:solidFill>
            </a:endParaRPr>
          </a:p>
          <a:p>
            <a:pPr indent="0">
              <a:buFontTx/>
              <a:buNone/>
            </a:pPr>
            <a:r>
              <a:rPr lang="en-US" altLang="zh-CN" sz="1400" dirty="0"/>
              <a:t>Two imbalance strategies</a:t>
            </a:r>
          </a:p>
          <a:p>
            <a:pPr marL="285750" indent="-285750">
              <a:buFontTx/>
              <a:buChar char="-"/>
            </a:pPr>
            <a:r>
              <a:rPr lang="en-US" altLang="zh-CN" sz="1400" dirty="0">
                <a:sym typeface="+mn-ea"/>
              </a:rPr>
              <a:t>Original train set + class or sample weights</a:t>
            </a:r>
          </a:p>
          <a:p>
            <a:pPr marL="285750" indent="-285750">
              <a:buFontTx/>
              <a:buChar char="-"/>
            </a:pPr>
            <a:r>
              <a:rPr lang="en-US" altLang="zh-CN" sz="1400" dirty="0"/>
              <a:t>SMOTE-balanced train set, no weights</a:t>
            </a:r>
          </a:p>
          <a:p>
            <a:pPr marL="285750" indent="-285750">
              <a:buFontTx/>
              <a:buChar char="-"/>
            </a:pPr>
            <a:endParaRPr lang="en-US" altLang="zh-CN" sz="1400" dirty="0"/>
          </a:p>
          <a:p>
            <a:pPr indent="0">
              <a:buFontTx/>
              <a:buNone/>
            </a:pPr>
            <a:r>
              <a:rPr lang="en-US" altLang="zh-CN" sz="1400" dirty="0"/>
              <a:t>Hyperparameter Tuning</a:t>
            </a:r>
          </a:p>
          <a:p>
            <a:pPr marL="285750" indent="-285750">
              <a:buFontTx/>
              <a:buChar char="-"/>
            </a:pPr>
            <a:r>
              <a:rPr lang="en-US" altLang="zh-CN" sz="1400" dirty="0"/>
              <a:t>RandomizedSearchCV</a:t>
            </a:r>
          </a:p>
        </p:txBody>
      </p:sp>
      <p:graphicFrame>
        <p:nvGraphicFramePr>
          <p:cNvPr id="8" name="表格 7"/>
          <p:cNvGraphicFramePr/>
          <p:nvPr>
            <p:custDataLst>
              <p:tags r:id="rId1"/>
            </p:custDataLst>
          </p:nvPr>
        </p:nvGraphicFramePr>
        <p:xfrm>
          <a:off x="3967480" y="1322705"/>
          <a:ext cx="5086350" cy="252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7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7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7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7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72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6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/>
                        <a:t>Acc</a:t>
                      </a:r>
                    </a:p>
                    <a:p>
                      <a:pPr algn="ctr">
                        <a:buNone/>
                      </a:pPr>
                      <a:r>
                        <a:rPr lang="en-US" altLang="zh-CN" sz="1400"/>
                        <a:t>(Orig)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/>
                        <a:t>Macro F1</a:t>
                      </a:r>
                    </a:p>
                    <a:p>
                      <a:pPr algn="ctr">
                        <a:buNone/>
                      </a:pPr>
                      <a:r>
                        <a:rPr lang="en-US" altLang="zh-CN" sz="1400"/>
                        <a:t>(Orig)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/>
                        <a:t>Acc (SMOTE)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Macro F1</a:t>
                      </a:r>
                      <a:endParaRPr lang="en-US" altLang="zh-CN" sz="1400"/>
                    </a:p>
                    <a:p>
                      <a:pPr algn="ctr"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(SMOTE)</a:t>
                      </a:r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Majority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21.0%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0.073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LogReg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21.0%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0.073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12.9%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0.127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12.7%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0.125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AdaBoost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12.6%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0.127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11.0%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0.112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0.076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16.4%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0.125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0.044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0.052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Overfitting &amp; Effect of SMOTE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8EFE-665F-4341-B5B8-2DAEADA52F6C}" type="slidenum">
              <a:rPr lang="en-US" smtClean="0"/>
              <a:t>17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50825" y="884555"/>
            <a:ext cx="5509260" cy="2953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Overfitting</a:t>
            </a:r>
          </a:p>
          <a:p>
            <a:r>
              <a:rPr lang="en-US" altLang="zh-CN" sz="1400" dirty="0"/>
              <a:t>Good Training Result:</a:t>
            </a:r>
          </a:p>
          <a:p>
            <a:pPr marL="285750" indent="-285750">
              <a:buFontTx/>
              <a:buChar char="-"/>
            </a:pPr>
            <a:r>
              <a:rPr lang="en-US" altLang="zh-CN" sz="1400" dirty="0"/>
              <a:t>RF (SMOTE):</a:t>
            </a:r>
            <a:r>
              <a:rPr lang="en-US" altLang="zh-CN" sz="1400" b="1" dirty="0"/>
              <a:t> 94.7% train accuracy,  0.95 macro F1</a:t>
            </a:r>
            <a:endParaRPr lang="en-US" sz="1400" b="1" dirty="0"/>
          </a:p>
          <a:p>
            <a:pPr marL="285750" indent="-285750">
              <a:buFontTx/>
              <a:buChar char="-"/>
            </a:pPr>
            <a:r>
              <a:rPr lang="en-US" altLang="zh-CN" sz="1400" dirty="0"/>
              <a:t>AdaBoost (SMOTE): </a:t>
            </a:r>
            <a:r>
              <a:rPr lang="en-US" altLang="zh-CN" sz="1400" b="1" dirty="0"/>
              <a:t>97.4% train accuracy,  0.97 </a:t>
            </a:r>
            <a:r>
              <a:rPr lang="en-US" altLang="zh-CN" sz="1400" b="1" dirty="0">
                <a:sym typeface="+mn-ea"/>
              </a:rPr>
              <a:t>macro F1</a:t>
            </a:r>
            <a:endParaRPr lang="en-US" sz="1400" dirty="0"/>
          </a:p>
          <a:p>
            <a:pPr marL="285750" indent="-285750">
              <a:buFontTx/>
              <a:buChar char="-"/>
            </a:pPr>
            <a:endParaRPr lang="en-US" altLang="zh-CN" sz="1400" dirty="0"/>
          </a:p>
          <a:p>
            <a:pPr indent="0">
              <a:buFontTx/>
              <a:buNone/>
            </a:pPr>
            <a:r>
              <a:rPr lang="en-US" sz="1400" dirty="0"/>
              <a:t>Weak Generalization to Test Set</a:t>
            </a:r>
          </a:p>
          <a:p>
            <a:pPr marL="285750" indent="-285750">
              <a:buFontTx/>
              <a:buChar char="-"/>
            </a:pPr>
            <a:r>
              <a:rPr lang="en-US" altLang="zh-CN" sz="1400" dirty="0"/>
              <a:t>Only </a:t>
            </a:r>
            <a:r>
              <a:rPr lang="en-US" altLang="zh-CN" sz="1400" b="1" dirty="0"/>
              <a:t>7–16%</a:t>
            </a:r>
            <a:r>
              <a:rPr lang="en-US" altLang="zh-CN" sz="1400" dirty="0"/>
              <a:t> accuracy across all models</a:t>
            </a:r>
          </a:p>
          <a:p>
            <a:pPr indent="0">
              <a:buFontTx/>
              <a:buNone/>
            </a:pPr>
            <a:endParaRPr lang="en-US" sz="1400" dirty="0">
              <a:solidFill>
                <a:schemeClr val="accent3"/>
              </a:solidFill>
            </a:endParaRPr>
          </a:p>
          <a:p>
            <a:pPr indent="0">
              <a:buFontTx/>
              <a:buNone/>
            </a:pPr>
            <a:r>
              <a:rPr lang="en-US" altLang="zh-CN" sz="1400" dirty="0"/>
              <a:t>Imbalance handling</a:t>
            </a:r>
          </a:p>
          <a:p>
            <a:pPr marL="285750" indent="-285750">
              <a:buFontTx/>
              <a:buChar char="-"/>
            </a:pPr>
            <a:r>
              <a:rPr lang="en-US" altLang="zh-CN" sz="1400" dirty="0"/>
              <a:t>Class / sample weights: improve training metrics, small gains on test</a:t>
            </a:r>
          </a:p>
          <a:p>
            <a:pPr marL="285750" indent="-285750">
              <a:buFontTx/>
              <a:buChar char="-"/>
            </a:pPr>
            <a:r>
              <a:rPr lang="en-US" altLang="zh-CN" sz="1400" dirty="0"/>
              <a:t>SMOTE: makes training easier, slightly improves XGBoost, but</a:t>
            </a:r>
          </a:p>
          <a:p>
            <a:pPr marL="742950" lvl="1" indent="-285750">
              <a:buFontTx/>
              <a:buChar char="-"/>
            </a:pPr>
            <a:r>
              <a:rPr lang="en-US" altLang="zh-CN" sz="1400" dirty="0"/>
              <a:t>Still below majority baseline accuracy</a:t>
            </a:r>
          </a:p>
          <a:p>
            <a:pPr marL="742950" lvl="1" indent="-285750">
              <a:buFontTx/>
              <a:buChar char="-"/>
            </a:pPr>
            <a:r>
              <a:rPr lang="en-US" altLang="zh-CN" sz="1400" dirty="0"/>
              <a:t>Rare shapes remain very hard to predict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Conclusion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8EFE-665F-4341-B5B8-2DAEADA52F6C}" type="slidenum">
              <a:rPr lang="en-US" smtClean="0"/>
              <a:t>18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50825" y="884555"/>
            <a:ext cx="8183880" cy="3661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3"/>
                </a:solidFill>
              </a:rPr>
              <a:t>Main Takeaways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1400" dirty="0"/>
              <a:t>Linear baselines + current features ≈ majority classifier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1400" dirty="0"/>
              <a:t>Nonlinear ensembles + imbalance tricks</a:t>
            </a:r>
          </a:p>
          <a:p>
            <a:pPr marL="742950" lvl="1" indent="-285750">
              <a:buFontTx/>
              <a:buChar char="-"/>
            </a:pPr>
            <a:r>
              <a:rPr lang="en-US" altLang="zh-CN" sz="1400" dirty="0"/>
              <a:t>High training F1, but </a:t>
            </a:r>
            <a:r>
              <a:rPr lang="en-US" altLang="zh-CN" sz="1400" b="1" dirty="0"/>
              <a:t>test accuracy &lt; 21% baseline</a:t>
            </a:r>
            <a:endParaRPr lang="en-US" altLang="zh-CN" sz="1400" dirty="0"/>
          </a:p>
          <a:p>
            <a:pPr marL="742950" lvl="1" indent="-285750">
              <a:buFontTx/>
              <a:buChar char="-"/>
            </a:pPr>
            <a:r>
              <a:rPr lang="en-US" altLang="zh-CN" sz="1400" dirty="0"/>
              <a:t>Rare shapes remain difficult to predict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1400" dirty="0"/>
              <a:t>Main bottleneck: limited signal in current features</a:t>
            </a:r>
          </a:p>
          <a:p>
            <a:pPr marL="285750" indent="-285750">
              <a:buFontTx/>
              <a:buChar char="-"/>
            </a:pPr>
            <a:endParaRPr lang="en-US" altLang="zh-CN" sz="1400" dirty="0"/>
          </a:p>
          <a:p>
            <a:pPr indent="0">
              <a:buFontTx/>
              <a:buNone/>
            </a:pPr>
            <a:r>
              <a:rPr lang="en-US" altLang="zh-CN" sz="1800" dirty="0">
                <a:solidFill>
                  <a:schemeClr val="accent3"/>
                </a:solidFill>
                <a:sym typeface="+mn-ea"/>
              </a:rPr>
              <a:t>Future Works</a:t>
            </a:r>
            <a:endParaRPr lang="en-US" altLang="zh-CN" sz="1800" dirty="0">
              <a:solidFill>
                <a:schemeClr val="accent3"/>
              </a:solidFill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1400" dirty="0"/>
              <a:t>Incorporating additional datasets covering other relevant factors, </a:t>
            </a:r>
            <a:r>
              <a:rPr lang="en-US" altLang="en-US" sz="1400" dirty="0"/>
              <a:t>but it is challenging because external data often differ in format, coverage, and geographic alignment.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1400" dirty="0"/>
              <a:t>Adding textual descriptions as a new feature and apply NLP techniques, </a:t>
            </a:r>
            <a:r>
              <a:rPr lang="en-US" altLang="en-US" sz="1400" dirty="0"/>
              <a:t>but how to proces noisy and unstructured sighting reports makes it difficult.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1400" dirty="0">
                <a:sym typeface="+mn-ea"/>
              </a:rPr>
              <a:t>Neural networks for richer nonlinear representations, </a:t>
            </a:r>
            <a:r>
              <a:rPr lang="en-US" altLang="en-US" sz="1400" dirty="0">
                <a:sym typeface="+mn-ea"/>
              </a:rPr>
              <a:t>but they require even larger, balanced datasets and careful tuning to avoid overfitting.</a:t>
            </a:r>
            <a:endParaRPr lang="en-US" altLang="zh-CN" sz="1400" dirty="0">
              <a:sym typeface="+mn-ea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1400" dirty="0">
                <a:sym typeface="+mn-ea"/>
              </a:rPr>
              <a:t>If problem still exists, we may conclude that the UFO shapes are impacted by actual </a:t>
            </a:r>
            <a:r>
              <a:rPr lang="en-US" altLang="zh-CN" sz="1400" dirty="0"/>
              <a:t>aerial anomalies.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00*198"/>
  <p:tag name="TABLE_ENDDRAG_RECT" val="312*104*400*198"/>
</p:tagLst>
</file>

<file path=ppt/theme/theme1.xml><?xml version="1.0" encoding="utf-8"?>
<a:theme xmlns:a="http://schemas.openxmlformats.org/drawingml/2006/main" name="Office Theme">
  <a:themeElements>
    <a:clrScheme name="Custom 23">
      <a:dk1>
        <a:srgbClr val="00144D"/>
      </a:dk1>
      <a:lt1>
        <a:sysClr val="window" lastClr="FFFFFF"/>
      </a:lt1>
      <a:dk2>
        <a:srgbClr val="57000A"/>
      </a:dk2>
      <a:lt2>
        <a:srgbClr val="82AFD3"/>
      </a:lt2>
      <a:accent1>
        <a:srgbClr val="95001A"/>
      </a:accent1>
      <a:accent2>
        <a:srgbClr val="C0504D"/>
      </a:accent2>
      <a:accent3>
        <a:srgbClr val="045EA7"/>
      </a:accent3>
      <a:accent4>
        <a:srgbClr val="F2C100"/>
      </a:accent4>
      <a:accent5>
        <a:srgbClr val="00144D"/>
      </a:accent5>
      <a:accent6>
        <a:srgbClr val="44464B"/>
      </a:accent6>
      <a:hlink>
        <a:srgbClr val="00144D"/>
      </a:hlink>
      <a:folHlink>
        <a:srgbClr val="82AFD3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853</Words>
  <Application>Microsoft Macintosh PowerPoint</Application>
  <PresentationFormat>On-screen Show (16:9)</PresentationFormat>
  <Paragraphs>191</Paragraphs>
  <Slides>18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Gill Sans</vt:lpstr>
      <vt:lpstr>Office Theme</vt:lpstr>
      <vt:lpstr>    UFO Shape Prediction Project </vt:lpstr>
      <vt:lpstr>Objective</vt:lpstr>
      <vt:lpstr>Value Proposition</vt:lpstr>
      <vt:lpstr>Contents:</vt:lpstr>
      <vt:lpstr>Dataset Used 1st </vt:lpstr>
      <vt:lpstr>Dataset Used 2nd </vt:lpstr>
      <vt:lpstr>Dataset Used 3rd   </vt:lpstr>
      <vt:lpstr>Dataset Used 4th  </vt:lpstr>
      <vt:lpstr>EDA Insights #1</vt:lpstr>
      <vt:lpstr>EDA Insights #2</vt:lpstr>
      <vt:lpstr>EDA Insights #3</vt:lpstr>
      <vt:lpstr>EDA Insights #4</vt:lpstr>
      <vt:lpstr>EDA Insights #5</vt:lpstr>
      <vt:lpstr>Handling imbalanced classes</vt:lpstr>
      <vt:lpstr>Baseline Models</vt:lpstr>
      <vt:lpstr>Modeling Pt.2</vt:lpstr>
      <vt:lpstr>Overfitting &amp; Effect of SMOTE</vt:lpstr>
      <vt:lpstr>Conclusion</vt:lpstr>
    </vt:vector>
  </TitlesOfParts>
  <Company>Zder0to5ive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Lindsey Tabor</dc:creator>
  <cp:lastModifiedBy>shangyi.du2024@outlook.com</cp:lastModifiedBy>
  <cp:revision>208</cp:revision>
  <dcterms:created xsi:type="dcterms:W3CDTF">2025-12-08T22:41:18Z</dcterms:created>
  <dcterms:modified xsi:type="dcterms:W3CDTF">2025-12-08T22:44:36Z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1033-12.1.23143.23143</vt:lpwstr>
  </property>
  <property fmtid="{D5CDD505-2E9C-101B-9397-08002B2CF9AE}" pid="3" name="ICV">
    <vt:lpwstr>AD7D1A87A6314A0E0E5437694DFD0366_43</vt:lpwstr>
  </property>
</Properties>
</file>